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8" r:id="rId2"/>
    <p:sldId id="259" r:id="rId3"/>
    <p:sldId id="261" r:id="rId4"/>
    <p:sldId id="265" r:id="rId5"/>
    <p:sldId id="262" r:id="rId6"/>
    <p:sldId id="263" r:id="rId7"/>
    <p:sldId id="264"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3351" autoAdjust="0"/>
  </p:normalViewPr>
  <p:slideViewPr>
    <p:cSldViewPr snapToGrid="0">
      <p:cViewPr varScale="1">
        <p:scale>
          <a:sx n="56" d="100"/>
          <a:sy n="56" d="100"/>
        </p:scale>
        <p:origin x="99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van Douglas Moore" userId="a12eaece-4c20-480d-b1b1-526d10518dcb" providerId="ADAL" clId="{449FB238-0941-4E72-B832-A9F28685A9E0}"/>
    <pc:docChg chg="undo custSel addSld delSld modSld">
      <pc:chgData name="Evan Douglas Moore" userId="a12eaece-4c20-480d-b1b1-526d10518dcb" providerId="ADAL" clId="{449FB238-0941-4E72-B832-A9F28685A9E0}" dt="2026-09-25T18:49:41.564" v="1522" actId="20577"/>
      <pc:docMkLst>
        <pc:docMk/>
      </pc:docMkLst>
      <pc:sldChg chg="modSp mod">
        <pc:chgData name="Evan Douglas Moore" userId="a12eaece-4c20-480d-b1b1-526d10518dcb" providerId="ADAL" clId="{449FB238-0941-4E72-B832-A9F28685A9E0}" dt="2026-09-25T18:48:03.598" v="1483" actId="20577"/>
        <pc:sldMkLst>
          <pc:docMk/>
          <pc:sldMk cId="2498848451" sldId="258"/>
        </pc:sldMkLst>
        <pc:spChg chg="mod">
          <ac:chgData name="Evan Douglas Moore" userId="a12eaece-4c20-480d-b1b1-526d10518dcb" providerId="ADAL" clId="{449FB238-0941-4E72-B832-A9F28685A9E0}" dt="2026-09-11T17:00:38.993" v="111" actId="20577"/>
          <ac:spMkLst>
            <pc:docMk/>
            <pc:sldMk cId="2498848451" sldId="258"/>
            <ac:spMk id="2" creationId="{0550030B-1E61-4849-B8B0-951C93DEFF60}"/>
          </ac:spMkLst>
        </pc:spChg>
        <pc:spChg chg="mod">
          <ac:chgData name="Evan Douglas Moore" userId="a12eaece-4c20-480d-b1b1-526d10518dcb" providerId="ADAL" clId="{449FB238-0941-4E72-B832-A9F28685A9E0}" dt="2026-09-25T18:48:03.598" v="1483" actId="20577"/>
          <ac:spMkLst>
            <pc:docMk/>
            <pc:sldMk cId="2498848451" sldId="258"/>
            <ac:spMk id="3" creationId="{A80C50CE-3D5A-46BD-90B8-E0E3D2BDE7C8}"/>
          </ac:spMkLst>
        </pc:spChg>
      </pc:sldChg>
      <pc:sldChg chg="addSp delSp modSp mod setBg">
        <pc:chgData name="Evan Douglas Moore" userId="a12eaece-4c20-480d-b1b1-526d10518dcb" providerId="ADAL" clId="{449FB238-0941-4E72-B832-A9F28685A9E0}" dt="2026-09-11T17:26:30.526" v="1193" actId="1076"/>
        <pc:sldMkLst>
          <pc:docMk/>
          <pc:sldMk cId="3348751462" sldId="259"/>
        </pc:sldMkLst>
        <pc:spChg chg="mod">
          <ac:chgData name="Evan Douglas Moore" userId="a12eaece-4c20-480d-b1b1-526d10518dcb" providerId="ADAL" clId="{449FB238-0941-4E72-B832-A9F28685A9E0}" dt="2026-09-11T17:26:22.612" v="1190" actId="26606"/>
          <ac:spMkLst>
            <pc:docMk/>
            <pc:sldMk cId="3348751462" sldId="259"/>
            <ac:spMk id="2" creationId="{BD1A3987-3810-4C7B-9BE1-C5492E2FF51A}"/>
          </ac:spMkLst>
        </pc:spChg>
        <pc:spChg chg="mod">
          <ac:chgData name="Evan Douglas Moore" userId="a12eaece-4c20-480d-b1b1-526d10518dcb" providerId="ADAL" clId="{449FB238-0941-4E72-B832-A9F28685A9E0}" dt="2026-09-11T17:26:22.612" v="1190" actId="26606"/>
          <ac:spMkLst>
            <pc:docMk/>
            <pc:sldMk cId="3348751462" sldId="259"/>
            <ac:spMk id="3" creationId="{A76D46E8-BC77-41EA-8A34-2351ECB228BE}"/>
          </ac:spMkLst>
        </pc:spChg>
        <pc:picChg chg="add mod">
          <ac:chgData name="Evan Douglas Moore" userId="a12eaece-4c20-480d-b1b1-526d10518dcb" providerId="ADAL" clId="{449FB238-0941-4E72-B832-A9F28685A9E0}" dt="2026-09-11T17:26:30.526" v="1193" actId="1076"/>
          <ac:picMkLst>
            <pc:docMk/>
            <pc:sldMk cId="3348751462" sldId="259"/>
            <ac:picMk id="7" creationId="{BA747FE8-D7DB-EB47-F213-63B6045FAD45}"/>
          </ac:picMkLst>
        </pc:picChg>
      </pc:sldChg>
      <pc:sldChg chg="modSp mod">
        <pc:chgData name="Evan Douglas Moore" userId="a12eaece-4c20-480d-b1b1-526d10518dcb" providerId="ADAL" clId="{449FB238-0941-4E72-B832-A9F28685A9E0}" dt="2026-09-25T18:49:41.564" v="1522" actId="20577"/>
        <pc:sldMkLst>
          <pc:docMk/>
          <pc:sldMk cId="1865445137" sldId="261"/>
        </pc:sldMkLst>
        <pc:spChg chg="mod">
          <ac:chgData name="Evan Douglas Moore" userId="a12eaece-4c20-480d-b1b1-526d10518dcb" providerId="ADAL" clId="{449FB238-0941-4E72-B832-A9F28685A9E0}" dt="2026-09-25T18:49:41.564" v="1522" actId="20577"/>
          <ac:spMkLst>
            <pc:docMk/>
            <pc:sldMk cId="1865445137" sldId="261"/>
            <ac:spMk id="3" creationId="{F4B1BE7A-2352-4B3C-BF51-380A64744009}"/>
          </ac:spMkLst>
        </pc:spChg>
      </pc:sldChg>
      <pc:sldChg chg="modSp mod">
        <pc:chgData name="Evan Douglas Moore" userId="a12eaece-4c20-480d-b1b1-526d10518dcb" providerId="ADAL" clId="{449FB238-0941-4E72-B832-A9F28685A9E0}" dt="2026-09-25T18:43:39.172" v="1477" actId="20577"/>
        <pc:sldMkLst>
          <pc:docMk/>
          <pc:sldMk cId="3450686343" sldId="262"/>
        </pc:sldMkLst>
        <pc:spChg chg="mod">
          <ac:chgData name="Evan Douglas Moore" userId="a12eaece-4c20-480d-b1b1-526d10518dcb" providerId="ADAL" clId="{449FB238-0941-4E72-B832-A9F28685A9E0}" dt="2026-09-25T18:43:39.172" v="1477" actId="20577"/>
          <ac:spMkLst>
            <pc:docMk/>
            <pc:sldMk cId="3450686343" sldId="262"/>
            <ac:spMk id="3" creationId="{5053997A-1AC2-4CA9-B781-1EBE596CC885}"/>
          </ac:spMkLst>
        </pc:spChg>
      </pc:sldChg>
      <pc:sldChg chg="modSp mod">
        <pc:chgData name="Evan Douglas Moore" userId="a12eaece-4c20-480d-b1b1-526d10518dcb" providerId="ADAL" clId="{449FB238-0941-4E72-B832-A9F28685A9E0}" dt="2026-09-11T17:22:58.323" v="1167" actId="20577"/>
        <pc:sldMkLst>
          <pc:docMk/>
          <pc:sldMk cId="4024000917" sldId="263"/>
        </pc:sldMkLst>
        <pc:spChg chg="mod">
          <ac:chgData name="Evan Douglas Moore" userId="a12eaece-4c20-480d-b1b1-526d10518dcb" providerId="ADAL" clId="{449FB238-0941-4E72-B832-A9F28685A9E0}" dt="2026-09-11T17:22:58.323" v="1167" actId="20577"/>
          <ac:spMkLst>
            <pc:docMk/>
            <pc:sldMk cId="4024000917" sldId="263"/>
            <ac:spMk id="3" creationId="{5B92FFE8-4C91-4BC2-9456-FAD72D2B2EB4}"/>
          </ac:spMkLst>
        </pc:spChg>
      </pc:sldChg>
      <pc:sldChg chg="addSp modSp add mod">
        <pc:chgData name="Evan Douglas Moore" userId="a12eaece-4c20-480d-b1b1-526d10518dcb" providerId="ADAL" clId="{449FB238-0941-4E72-B832-A9F28685A9E0}" dt="2026-09-25T18:40:36.470" v="1199" actId="14100"/>
        <pc:sldMkLst>
          <pc:docMk/>
          <pc:sldMk cId="3637355698" sldId="265"/>
        </pc:sldMkLst>
        <pc:picChg chg="add mod">
          <ac:chgData name="Evan Douglas Moore" userId="a12eaece-4c20-480d-b1b1-526d10518dcb" providerId="ADAL" clId="{449FB238-0941-4E72-B832-A9F28685A9E0}" dt="2026-09-25T18:40:36.470" v="1199" actId="14100"/>
          <ac:picMkLst>
            <pc:docMk/>
            <pc:sldMk cId="3637355698" sldId="265"/>
            <ac:picMk id="5" creationId="{BBEF9E16-DEE5-8B75-DC1F-C0A7A6E051B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1B50F0-5143-43AF-8966-30D38E84A571}" type="datetimeFigureOut">
              <a:rPr lang="en-US" smtClean="0"/>
              <a:t>9/25/2026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4D7B41-392A-43D5-8F08-6FCC0EB902DB}" type="slidenum">
              <a:rPr lang="en-US" smtClean="0"/>
              <a:t>‹#›</a:t>
            </a:fld>
            <a:endParaRPr lang="en-US"/>
          </a:p>
        </p:txBody>
      </p:sp>
    </p:spTree>
    <p:extLst>
      <p:ext uri="{BB962C8B-B14F-4D97-AF65-F5344CB8AC3E}">
        <p14:creationId xmlns:p14="http://schemas.microsoft.com/office/powerpoint/2010/main" val="26205744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first project work day (Week 3) you will provide background and context for your project.  In subsequent weeks you only need to provide that quick reminder of the Major goals (on sentence to remind the team of your Project.)</a:t>
            </a:r>
          </a:p>
          <a:p>
            <a:endParaRPr lang="en-US" dirty="0"/>
          </a:p>
          <a:p>
            <a:r>
              <a:rPr lang="en-US" dirty="0"/>
              <a:t>As you progress your goals, or scope may have changed.  Please share your thoughts.</a:t>
            </a:r>
          </a:p>
        </p:txBody>
      </p:sp>
      <p:sp>
        <p:nvSpPr>
          <p:cNvPr id="4" name="Slide Number Placeholder 3"/>
          <p:cNvSpPr>
            <a:spLocks noGrp="1"/>
          </p:cNvSpPr>
          <p:nvPr>
            <p:ph type="sldNum" sz="quarter" idx="5"/>
          </p:nvPr>
        </p:nvSpPr>
        <p:spPr/>
        <p:txBody>
          <a:bodyPr/>
          <a:lstStyle/>
          <a:p>
            <a:fld id="{2C4D7B41-392A-43D5-8F08-6FCC0EB902DB}" type="slidenum">
              <a:rPr lang="en-US" smtClean="0"/>
              <a:t>2</a:t>
            </a:fld>
            <a:endParaRPr lang="en-US"/>
          </a:p>
        </p:txBody>
      </p:sp>
    </p:spTree>
    <p:extLst>
      <p:ext uri="{BB962C8B-B14F-4D97-AF65-F5344CB8AC3E}">
        <p14:creationId xmlns:p14="http://schemas.microsoft.com/office/powerpoint/2010/main" val="35705438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project workday is only a week after the contract submission and may not have much progress which is fine.  </a:t>
            </a:r>
          </a:p>
          <a:p>
            <a:r>
              <a:rPr lang="en-US" dirty="0"/>
              <a:t>In later session you can work from you list of goals from prior workday and describe progress.</a:t>
            </a:r>
          </a:p>
        </p:txBody>
      </p:sp>
      <p:sp>
        <p:nvSpPr>
          <p:cNvPr id="4" name="Slide Number Placeholder 3"/>
          <p:cNvSpPr>
            <a:spLocks noGrp="1"/>
          </p:cNvSpPr>
          <p:nvPr>
            <p:ph type="sldNum" sz="quarter" idx="5"/>
          </p:nvPr>
        </p:nvSpPr>
        <p:spPr/>
        <p:txBody>
          <a:bodyPr/>
          <a:lstStyle/>
          <a:p>
            <a:fld id="{2C4D7B41-392A-43D5-8F08-6FCC0EB902DB}" type="slidenum">
              <a:rPr lang="en-US" smtClean="0"/>
              <a:t>3</a:t>
            </a:fld>
            <a:endParaRPr lang="en-US"/>
          </a:p>
        </p:txBody>
      </p:sp>
    </p:spTree>
    <p:extLst>
      <p:ext uri="{BB962C8B-B14F-4D97-AF65-F5344CB8AC3E}">
        <p14:creationId xmlns:p14="http://schemas.microsoft.com/office/powerpoint/2010/main" val="25343559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53195-45B2-D413-732E-32CB9727F4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3EEFF5-8E5D-A607-BE2E-59FAF2D430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63F21C-FCA4-7191-8032-5DDA1A677D4B}"/>
              </a:ext>
            </a:extLst>
          </p:cNvPr>
          <p:cNvSpPr>
            <a:spLocks noGrp="1"/>
          </p:cNvSpPr>
          <p:nvPr>
            <p:ph type="body" idx="1"/>
          </p:nvPr>
        </p:nvSpPr>
        <p:spPr/>
        <p:txBody>
          <a:bodyPr/>
          <a:lstStyle/>
          <a:p>
            <a:r>
              <a:rPr lang="en-US" dirty="0"/>
              <a:t>The first project workday is only a week after the contract submission and may not have much progress which is fine.  </a:t>
            </a:r>
          </a:p>
          <a:p>
            <a:r>
              <a:rPr lang="en-US" dirty="0"/>
              <a:t>In later session you can work from you list of goals from prior workday and describe progress.</a:t>
            </a:r>
          </a:p>
        </p:txBody>
      </p:sp>
      <p:sp>
        <p:nvSpPr>
          <p:cNvPr id="4" name="Slide Number Placeholder 3">
            <a:extLst>
              <a:ext uri="{FF2B5EF4-FFF2-40B4-BE49-F238E27FC236}">
                <a16:creationId xmlns:a16="http://schemas.microsoft.com/office/drawing/2014/main" id="{1432EAA2-0434-DAA1-758E-88DE2F387870}"/>
              </a:ext>
            </a:extLst>
          </p:cNvPr>
          <p:cNvSpPr>
            <a:spLocks noGrp="1"/>
          </p:cNvSpPr>
          <p:nvPr>
            <p:ph type="sldNum" sz="quarter" idx="5"/>
          </p:nvPr>
        </p:nvSpPr>
        <p:spPr/>
        <p:txBody>
          <a:bodyPr/>
          <a:lstStyle/>
          <a:p>
            <a:fld id="{2C4D7B41-392A-43D5-8F08-6FCC0EB902DB}" type="slidenum">
              <a:rPr lang="en-US" smtClean="0"/>
              <a:t>4</a:t>
            </a:fld>
            <a:endParaRPr lang="en-US"/>
          </a:p>
        </p:txBody>
      </p:sp>
    </p:spTree>
    <p:extLst>
      <p:ext uri="{BB962C8B-B14F-4D97-AF65-F5344CB8AC3E}">
        <p14:creationId xmlns:p14="http://schemas.microsoft.com/office/powerpoint/2010/main" val="3831975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Identify any problems or issues you are facing.  This could be intellectual sticking points, difficulty finding information, getting materials, etc.  The team may have ideas to help you with these issues, or they are items that have change your short term priorities.</a:t>
            </a:r>
          </a:p>
        </p:txBody>
      </p:sp>
      <p:sp>
        <p:nvSpPr>
          <p:cNvPr id="4" name="Slide Number Placeholder 3"/>
          <p:cNvSpPr>
            <a:spLocks noGrp="1"/>
          </p:cNvSpPr>
          <p:nvPr>
            <p:ph type="sldNum" sz="quarter" idx="5"/>
          </p:nvPr>
        </p:nvSpPr>
        <p:spPr/>
        <p:txBody>
          <a:bodyPr/>
          <a:lstStyle/>
          <a:p>
            <a:fld id="{2C4D7B41-392A-43D5-8F08-6FCC0EB902DB}" type="slidenum">
              <a:rPr lang="en-US" smtClean="0"/>
              <a:t>5</a:t>
            </a:fld>
            <a:endParaRPr lang="en-US"/>
          </a:p>
        </p:txBody>
      </p:sp>
    </p:spTree>
    <p:extLst>
      <p:ext uri="{BB962C8B-B14F-4D97-AF65-F5344CB8AC3E}">
        <p14:creationId xmlns:p14="http://schemas.microsoft.com/office/powerpoint/2010/main" val="16960269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talk about project management in ENGR 130.  For the first session you can list out all the major action you need to accomplish to achieve your goals.  Think of these as the list of action items we discussed for team meetings.</a:t>
            </a:r>
          </a:p>
        </p:txBody>
      </p:sp>
      <p:sp>
        <p:nvSpPr>
          <p:cNvPr id="4" name="Slide Number Placeholder 3"/>
          <p:cNvSpPr>
            <a:spLocks noGrp="1"/>
          </p:cNvSpPr>
          <p:nvPr>
            <p:ph type="sldNum" sz="quarter" idx="5"/>
          </p:nvPr>
        </p:nvSpPr>
        <p:spPr/>
        <p:txBody>
          <a:bodyPr/>
          <a:lstStyle/>
          <a:p>
            <a:fld id="{2C4D7B41-392A-43D5-8F08-6FCC0EB902DB}" type="slidenum">
              <a:rPr lang="en-US" smtClean="0"/>
              <a:t>6</a:t>
            </a:fld>
            <a:endParaRPr lang="en-US"/>
          </a:p>
        </p:txBody>
      </p:sp>
    </p:spTree>
    <p:extLst>
      <p:ext uri="{BB962C8B-B14F-4D97-AF65-F5344CB8AC3E}">
        <p14:creationId xmlns:p14="http://schemas.microsoft.com/office/powerpoint/2010/main" val="6255950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14DC9-2D67-40A5-8A5B-059B18B16E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B8CD758-1785-4535-B67C-F2FC21978C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D1E15D2-2D76-4A54-B26A-1361E6E30D88}"/>
              </a:ext>
            </a:extLst>
          </p:cNvPr>
          <p:cNvSpPr>
            <a:spLocks noGrp="1"/>
          </p:cNvSpPr>
          <p:nvPr>
            <p:ph type="dt" sz="half" idx="10"/>
          </p:nvPr>
        </p:nvSpPr>
        <p:spPr/>
        <p:txBody>
          <a:bodyPr/>
          <a:lstStyle/>
          <a:p>
            <a:fld id="{90BDCE29-86A1-42B3-8F1A-FB966B7FADD4}" type="datetimeFigureOut">
              <a:rPr lang="en-US" smtClean="0"/>
              <a:t>9/25/2026</a:t>
            </a:fld>
            <a:endParaRPr lang="en-US"/>
          </a:p>
        </p:txBody>
      </p:sp>
      <p:sp>
        <p:nvSpPr>
          <p:cNvPr id="5" name="Footer Placeholder 4">
            <a:extLst>
              <a:ext uri="{FF2B5EF4-FFF2-40B4-BE49-F238E27FC236}">
                <a16:creationId xmlns:a16="http://schemas.microsoft.com/office/drawing/2014/main" id="{832DF05B-610A-4D8F-B0B5-7C9A3AC6C1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727A62-93FF-4FF8-89D2-E9F2C90582A8}"/>
              </a:ext>
            </a:extLst>
          </p:cNvPr>
          <p:cNvSpPr>
            <a:spLocks noGrp="1"/>
          </p:cNvSpPr>
          <p:nvPr>
            <p:ph type="sldNum" sz="quarter" idx="12"/>
          </p:nvPr>
        </p:nvSpPr>
        <p:spPr/>
        <p:txBody>
          <a:bodyPr/>
          <a:lstStyle/>
          <a:p>
            <a:fld id="{35ED67E6-486D-418A-B740-7F23BAF83996}" type="slidenum">
              <a:rPr lang="en-US" smtClean="0"/>
              <a:t>‹#›</a:t>
            </a:fld>
            <a:endParaRPr lang="en-US"/>
          </a:p>
        </p:txBody>
      </p:sp>
    </p:spTree>
    <p:extLst>
      <p:ext uri="{BB962C8B-B14F-4D97-AF65-F5344CB8AC3E}">
        <p14:creationId xmlns:p14="http://schemas.microsoft.com/office/powerpoint/2010/main" val="12310560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B13CA-9DE6-4680-9C1D-DDE9BA78EC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4DC988-D0F1-43C2-B253-477BC63512A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B4BB60-7E24-4472-9213-55399A6B0A95}"/>
              </a:ext>
            </a:extLst>
          </p:cNvPr>
          <p:cNvSpPr>
            <a:spLocks noGrp="1"/>
          </p:cNvSpPr>
          <p:nvPr>
            <p:ph type="dt" sz="half" idx="10"/>
          </p:nvPr>
        </p:nvSpPr>
        <p:spPr/>
        <p:txBody>
          <a:bodyPr/>
          <a:lstStyle/>
          <a:p>
            <a:fld id="{90BDCE29-86A1-42B3-8F1A-FB966B7FADD4}" type="datetimeFigureOut">
              <a:rPr lang="en-US" smtClean="0"/>
              <a:t>9/25/2026</a:t>
            </a:fld>
            <a:endParaRPr lang="en-US"/>
          </a:p>
        </p:txBody>
      </p:sp>
      <p:sp>
        <p:nvSpPr>
          <p:cNvPr id="5" name="Footer Placeholder 4">
            <a:extLst>
              <a:ext uri="{FF2B5EF4-FFF2-40B4-BE49-F238E27FC236}">
                <a16:creationId xmlns:a16="http://schemas.microsoft.com/office/drawing/2014/main" id="{E9DAF789-4D8F-4556-BF4E-18F427EC94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DF4893-84C6-4444-8640-33F6299DF92B}"/>
              </a:ext>
            </a:extLst>
          </p:cNvPr>
          <p:cNvSpPr>
            <a:spLocks noGrp="1"/>
          </p:cNvSpPr>
          <p:nvPr>
            <p:ph type="sldNum" sz="quarter" idx="12"/>
          </p:nvPr>
        </p:nvSpPr>
        <p:spPr/>
        <p:txBody>
          <a:bodyPr/>
          <a:lstStyle/>
          <a:p>
            <a:fld id="{35ED67E6-486D-418A-B740-7F23BAF83996}" type="slidenum">
              <a:rPr lang="en-US" smtClean="0"/>
              <a:t>‹#›</a:t>
            </a:fld>
            <a:endParaRPr lang="en-US"/>
          </a:p>
        </p:txBody>
      </p:sp>
    </p:spTree>
    <p:extLst>
      <p:ext uri="{BB962C8B-B14F-4D97-AF65-F5344CB8AC3E}">
        <p14:creationId xmlns:p14="http://schemas.microsoft.com/office/powerpoint/2010/main" val="9463969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18216-A10F-4306-82FB-4FE070E82BF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C1BF4CE-1FF8-4AA4-94BA-F54B85114C9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112A8FC3-67F5-43BC-AD14-22B4FBE492DA}"/>
              </a:ext>
            </a:extLst>
          </p:cNvPr>
          <p:cNvSpPr>
            <a:spLocks noGrp="1"/>
          </p:cNvSpPr>
          <p:nvPr>
            <p:ph type="dt" sz="half" idx="10"/>
          </p:nvPr>
        </p:nvSpPr>
        <p:spPr/>
        <p:txBody>
          <a:bodyPr/>
          <a:lstStyle/>
          <a:p>
            <a:fld id="{90BDCE29-86A1-42B3-8F1A-FB966B7FADD4}" type="datetimeFigureOut">
              <a:rPr lang="en-US" smtClean="0"/>
              <a:t>9/25/2026</a:t>
            </a:fld>
            <a:endParaRPr lang="en-US"/>
          </a:p>
        </p:txBody>
      </p:sp>
      <p:sp>
        <p:nvSpPr>
          <p:cNvPr id="5" name="Footer Placeholder 4">
            <a:extLst>
              <a:ext uri="{FF2B5EF4-FFF2-40B4-BE49-F238E27FC236}">
                <a16:creationId xmlns:a16="http://schemas.microsoft.com/office/drawing/2014/main" id="{9E704CED-7F42-4A24-B581-9EF25C690A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C01ED7-895E-43AC-80A9-A4395C24A6BE}"/>
              </a:ext>
            </a:extLst>
          </p:cNvPr>
          <p:cNvSpPr>
            <a:spLocks noGrp="1"/>
          </p:cNvSpPr>
          <p:nvPr>
            <p:ph type="sldNum" sz="quarter" idx="12"/>
          </p:nvPr>
        </p:nvSpPr>
        <p:spPr/>
        <p:txBody>
          <a:bodyPr/>
          <a:lstStyle/>
          <a:p>
            <a:fld id="{35ED67E6-486D-418A-B740-7F23BAF83996}" type="slidenum">
              <a:rPr lang="en-US" smtClean="0"/>
              <a:t>‹#›</a:t>
            </a:fld>
            <a:endParaRPr lang="en-US"/>
          </a:p>
        </p:txBody>
      </p:sp>
    </p:spTree>
    <p:extLst>
      <p:ext uri="{BB962C8B-B14F-4D97-AF65-F5344CB8AC3E}">
        <p14:creationId xmlns:p14="http://schemas.microsoft.com/office/powerpoint/2010/main" val="1777523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6DE32-EDA3-47F8-976D-37853D70528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8E1D51-2D6E-4C46-87D9-1EE32402195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FF175F-3C9E-407D-A1E4-FE161C8AF6F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56783CB-B5EF-42AF-A46A-AA5A7F6D3317}"/>
              </a:ext>
            </a:extLst>
          </p:cNvPr>
          <p:cNvSpPr>
            <a:spLocks noGrp="1"/>
          </p:cNvSpPr>
          <p:nvPr>
            <p:ph type="dt" sz="half" idx="10"/>
          </p:nvPr>
        </p:nvSpPr>
        <p:spPr/>
        <p:txBody>
          <a:bodyPr/>
          <a:lstStyle/>
          <a:p>
            <a:fld id="{90BDCE29-86A1-42B3-8F1A-FB966B7FADD4}" type="datetimeFigureOut">
              <a:rPr lang="en-US" smtClean="0"/>
              <a:t>9/25/2026</a:t>
            </a:fld>
            <a:endParaRPr lang="en-US"/>
          </a:p>
        </p:txBody>
      </p:sp>
      <p:sp>
        <p:nvSpPr>
          <p:cNvPr id="6" name="Footer Placeholder 5">
            <a:extLst>
              <a:ext uri="{FF2B5EF4-FFF2-40B4-BE49-F238E27FC236}">
                <a16:creationId xmlns:a16="http://schemas.microsoft.com/office/drawing/2014/main" id="{72C3C1DE-3464-4409-A8F0-5972B4EEE0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53D05F-24D1-49F1-85AD-59DE4B31DA32}"/>
              </a:ext>
            </a:extLst>
          </p:cNvPr>
          <p:cNvSpPr>
            <a:spLocks noGrp="1"/>
          </p:cNvSpPr>
          <p:nvPr>
            <p:ph type="sldNum" sz="quarter" idx="12"/>
          </p:nvPr>
        </p:nvSpPr>
        <p:spPr/>
        <p:txBody>
          <a:bodyPr/>
          <a:lstStyle/>
          <a:p>
            <a:fld id="{35ED67E6-486D-418A-B740-7F23BAF83996}" type="slidenum">
              <a:rPr lang="en-US" smtClean="0"/>
              <a:t>‹#›</a:t>
            </a:fld>
            <a:endParaRPr lang="en-US"/>
          </a:p>
        </p:txBody>
      </p:sp>
    </p:spTree>
    <p:extLst>
      <p:ext uri="{BB962C8B-B14F-4D97-AF65-F5344CB8AC3E}">
        <p14:creationId xmlns:p14="http://schemas.microsoft.com/office/powerpoint/2010/main" val="6348287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6D277-4726-437E-8E2B-9CEA8537E30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2ABE67F-64E3-4033-B5A1-6BC0E5F4CE1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98FAB8D-9CF0-4C7D-B989-CA6EE9985DE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55F8840-0D21-4255-A03D-743366867F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90036D4E-3F7A-4F74-8B3F-B767E4AF51D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55BA37A-CECA-45E4-B7C2-74C56C197213}"/>
              </a:ext>
            </a:extLst>
          </p:cNvPr>
          <p:cNvSpPr>
            <a:spLocks noGrp="1"/>
          </p:cNvSpPr>
          <p:nvPr>
            <p:ph type="dt" sz="half" idx="10"/>
          </p:nvPr>
        </p:nvSpPr>
        <p:spPr/>
        <p:txBody>
          <a:bodyPr/>
          <a:lstStyle/>
          <a:p>
            <a:fld id="{90BDCE29-86A1-42B3-8F1A-FB966B7FADD4}" type="datetimeFigureOut">
              <a:rPr lang="en-US" smtClean="0"/>
              <a:t>9/25/2026</a:t>
            </a:fld>
            <a:endParaRPr lang="en-US"/>
          </a:p>
        </p:txBody>
      </p:sp>
      <p:sp>
        <p:nvSpPr>
          <p:cNvPr id="8" name="Footer Placeholder 7">
            <a:extLst>
              <a:ext uri="{FF2B5EF4-FFF2-40B4-BE49-F238E27FC236}">
                <a16:creationId xmlns:a16="http://schemas.microsoft.com/office/drawing/2014/main" id="{516288F2-4204-4689-A7E9-488062A853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9585D0A-9D92-426D-A8D5-A288188DD79D}"/>
              </a:ext>
            </a:extLst>
          </p:cNvPr>
          <p:cNvSpPr>
            <a:spLocks noGrp="1"/>
          </p:cNvSpPr>
          <p:nvPr>
            <p:ph type="sldNum" sz="quarter" idx="12"/>
          </p:nvPr>
        </p:nvSpPr>
        <p:spPr/>
        <p:txBody>
          <a:bodyPr/>
          <a:lstStyle/>
          <a:p>
            <a:fld id="{35ED67E6-486D-418A-B740-7F23BAF83996}" type="slidenum">
              <a:rPr lang="en-US" smtClean="0"/>
              <a:t>‹#›</a:t>
            </a:fld>
            <a:endParaRPr lang="en-US"/>
          </a:p>
        </p:txBody>
      </p:sp>
    </p:spTree>
    <p:extLst>
      <p:ext uri="{BB962C8B-B14F-4D97-AF65-F5344CB8AC3E}">
        <p14:creationId xmlns:p14="http://schemas.microsoft.com/office/powerpoint/2010/main" val="2709896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044E7-5C55-4AA0-B0D0-F874C4DACEF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1ACC5C4-8510-4145-876D-CBB151B78F34}"/>
              </a:ext>
            </a:extLst>
          </p:cNvPr>
          <p:cNvSpPr>
            <a:spLocks noGrp="1"/>
          </p:cNvSpPr>
          <p:nvPr>
            <p:ph type="dt" sz="half" idx="10"/>
          </p:nvPr>
        </p:nvSpPr>
        <p:spPr/>
        <p:txBody>
          <a:bodyPr/>
          <a:lstStyle/>
          <a:p>
            <a:fld id="{90BDCE29-86A1-42B3-8F1A-FB966B7FADD4}" type="datetimeFigureOut">
              <a:rPr lang="en-US" smtClean="0"/>
              <a:t>9/25/2026</a:t>
            </a:fld>
            <a:endParaRPr lang="en-US"/>
          </a:p>
        </p:txBody>
      </p:sp>
      <p:sp>
        <p:nvSpPr>
          <p:cNvPr id="4" name="Footer Placeholder 3">
            <a:extLst>
              <a:ext uri="{FF2B5EF4-FFF2-40B4-BE49-F238E27FC236}">
                <a16:creationId xmlns:a16="http://schemas.microsoft.com/office/drawing/2014/main" id="{F3D319E0-3F2F-4477-AF7C-1EA66A3EF1D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4E0B773-316D-48CB-82F5-B5CFACCEB828}"/>
              </a:ext>
            </a:extLst>
          </p:cNvPr>
          <p:cNvSpPr>
            <a:spLocks noGrp="1"/>
          </p:cNvSpPr>
          <p:nvPr>
            <p:ph type="sldNum" sz="quarter" idx="12"/>
          </p:nvPr>
        </p:nvSpPr>
        <p:spPr/>
        <p:txBody>
          <a:bodyPr/>
          <a:lstStyle/>
          <a:p>
            <a:fld id="{35ED67E6-486D-418A-B740-7F23BAF83996}" type="slidenum">
              <a:rPr lang="en-US" smtClean="0"/>
              <a:t>‹#›</a:t>
            </a:fld>
            <a:endParaRPr lang="en-US"/>
          </a:p>
        </p:txBody>
      </p:sp>
    </p:spTree>
    <p:extLst>
      <p:ext uri="{BB962C8B-B14F-4D97-AF65-F5344CB8AC3E}">
        <p14:creationId xmlns:p14="http://schemas.microsoft.com/office/powerpoint/2010/main" val="35729777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5543D0-8AD1-434E-A7B9-202BE7EDB1EC}"/>
              </a:ext>
            </a:extLst>
          </p:cNvPr>
          <p:cNvSpPr>
            <a:spLocks noGrp="1"/>
          </p:cNvSpPr>
          <p:nvPr>
            <p:ph type="dt" sz="half" idx="10"/>
          </p:nvPr>
        </p:nvSpPr>
        <p:spPr/>
        <p:txBody>
          <a:bodyPr/>
          <a:lstStyle/>
          <a:p>
            <a:fld id="{90BDCE29-86A1-42B3-8F1A-FB966B7FADD4}" type="datetimeFigureOut">
              <a:rPr lang="en-US" smtClean="0"/>
              <a:t>9/25/2026</a:t>
            </a:fld>
            <a:endParaRPr lang="en-US"/>
          </a:p>
        </p:txBody>
      </p:sp>
      <p:sp>
        <p:nvSpPr>
          <p:cNvPr id="3" name="Footer Placeholder 2">
            <a:extLst>
              <a:ext uri="{FF2B5EF4-FFF2-40B4-BE49-F238E27FC236}">
                <a16:creationId xmlns:a16="http://schemas.microsoft.com/office/drawing/2014/main" id="{9BC1380B-6A45-489A-83BD-C3FC3BFF5C6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403D9EC-FD1D-4826-846B-ECFFE36C2A8C}"/>
              </a:ext>
            </a:extLst>
          </p:cNvPr>
          <p:cNvSpPr>
            <a:spLocks noGrp="1"/>
          </p:cNvSpPr>
          <p:nvPr>
            <p:ph type="sldNum" sz="quarter" idx="12"/>
          </p:nvPr>
        </p:nvSpPr>
        <p:spPr/>
        <p:txBody>
          <a:bodyPr/>
          <a:lstStyle/>
          <a:p>
            <a:fld id="{35ED67E6-486D-418A-B740-7F23BAF83996}" type="slidenum">
              <a:rPr lang="en-US" smtClean="0"/>
              <a:t>‹#›</a:t>
            </a:fld>
            <a:endParaRPr lang="en-US"/>
          </a:p>
        </p:txBody>
      </p:sp>
    </p:spTree>
    <p:extLst>
      <p:ext uri="{BB962C8B-B14F-4D97-AF65-F5344CB8AC3E}">
        <p14:creationId xmlns:p14="http://schemas.microsoft.com/office/powerpoint/2010/main" val="37213665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5AD3A-7574-4AD9-B81B-897D8FBD28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D43E224-C009-4DB3-86FA-204D6CBAF8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0AA72FE-DE2B-4AB3-82DA-2CDCBB8BA7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C577565-61C8-4D75-8768-FEBC50316C4E}"/>
              </a:ext>
            </a:extLst>
          </p:cNvPr>
          <p:cNvSpPr>
            <a:spLocks noGrp="1"/>
          </p:cNvSpPr>
          <p:nvPr>
            <p:ph type="dt" sz="half" idx="10"/>
          </p:nvPr>
        </p:nvSpPr>
        <p:spPr/>
        <p:txBody>
          <a:bodyPr/>
          <a:lstStyle/>
          <a:p>
            <a:fld id="{90BDCE29-86A1-42B3-8F1A-FB966B7FADD4}" type="datetimeFigureOut">
              <a:rPr lang="en-US" smtClean="0"/>
              <a:t>9/25/2026</a:t>
            </a:fld>
            <a:endParaRPr lang="en-US"/>
          </a:p>
        </p:txBody>
      </p:sp>
      <p:sp>
        <p:nvSpPr>
          <p:cNvPr id="6" name="Footer Placeholder 5">
            <a:extLst>
              <a:ext uri="{FF2B5EF4-FFF2-40B4-BE49-F238E27FC236}">
                <a16:creationId xmlns:a16="http://schemas.microsoft.com/office/drawing/2014/main" id="{4D9D793A-E627-4872-ABF4-42C2297FFF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5C26E9-AD79-43EA-9CE0-CE6E71CFEBB3}"/>
              </a:ext>
            </a:extLst>
          </p:cNvPr>
          <p:cNvSpPr>
            <a:spLocks noGrp="1"/>
          </p:cNvSpPr>
          <p:nvPr>
            <p:ph type="sldNum" sz="quarter" idx="12"/>
          </p:nvPr>
        </p:nvSpPr>
        <p:spPr/>
        <p:txBody>
          <a:bodyPr/>
          <a:lstStyle/>
          <a:p>
            <a:fld id="{35ED67E6-486D-418A-B740-7F23BAF83996}" type="slidenum">
              <a:rPr lang="en-US" smtClean="0"/>
              <a:t>‹#›</a:t>
            </a:fld>
            <a:endParaRPr lang="en-US"/>
          </a:p>
        </p:txBody>
      </p:sp>
    </p:spTree>
    <p:extLst>
      <p:ext uri="{BB962C8B-B14F-4D97-AF65-F5344CB8AC3E}">
        <p14:creationId xmlns:p14="http://schemas.microsoft.com/office/powerpoint/2010/main" val="3084751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6384F-1C5D-408A-A75F-40BF624115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C842CE-CAE1-43F0-A5C1-A32D2890E8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BA0FF61-2BB2-41A8-8330-4051552287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7104717-489C-403F-8FE4-5C475152D2D5}"/>
              </a:ext>
            </a:extLst>
          </p:cNvPr>
          <p:cNvSpPr>
            <a:spLocks noGrp="1"/>
          </p:cNvSpPr>
          <p:nvPr>
            <p:ph type="dt" sz="half" idx="10"/>
          </p:nvPr>
        </p:nvSpPr>
        <p:spPr/>
        <p:txBody>
          <a:bodyPr/>
          <a:lstStyle/>
          <a:p>
            <a:fld id="{90BDCE29-86A1-42B3-8F1A-FB966B7FADD4}" type="datetimeFigureOut">
              <a:rPr lang="en-US" smtClean="0"/>
              <a:t>9/25/2026</a:t>
            </a:fld>
            <a:endParaRPr lang="en-US"/>
          </a:p>
        </p:txBody>
      </p:sp>
      <p:sp>
        <p:nvSpPr>
          <p:cNvPr id="6" name="Footer Placeholder 5">
            <a:extLst>
              <a:ext uri="{FF2B5EF4-FFF2-40B4-BE49-F238E27FC236}">
                <a16:creationId xmlns:a16="http://schemas.microsoft.com/office/drawing/2014/main" id="{817C8FA0-78D0-4E73-A943-037BF06F85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0150D9-3E3B-4DD1-94AE-F06BF12969A7}"/>
              </a:ext>
            </a:extLst>
          </p:cNvPr>
          <p:cNvSpPr>
            <a:spLocks noGrp="1"/>
          </p:cNvSpPr>
          <p:nvPr>
            <p:ph type="sldNum" sz="quarter" idx="12"/>
          </p:nvPr>
        </p:nvSpPr>
        <p:spPr/>
        <p:txBody>
          <a:bodyPr/>
          <a:lstStyle/>
          <a:p>
            <a:fld id="{35ED67E6-486D-418A-B740-7F23BAF83996}" type="slidenum">
              <a:rPr lang="en-US" smtClean="0"/>
              <a:t>‹#›</a:t>
            </a:fld>
            <a:endParaRPr lang="en-US"/>
          </a:p>
        </p:txBody>
      </p:sp>
    </p:spTree>
    <p:extLst>
      <p:ext uri="{BB962C8B-B14F-4D97-AF65-F5344CB8AC3E}">
        <p14:creationId xmlns:p14="http://schemas.microsoft.com/office/powerpoint/2010/main" val="1521340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55C90-21A2-4188-976C-028B6187B15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5977B71-FD6A-4118-9512-FD5AABE584A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DDB9F5-9A90-498E-920D-B8FC9DEA123C}"/>
              </a:ext>
            </a:extLst>
          </p:cNvPr>
          <p:cNvSpPr>
            <a:spLocks noGrp="1"/>
          </p:cNvSpPr>
          <p:nvPr>
            <p:ph type="dt" sz="half" idx="10"/>
          </p:nvPr>
        </p:nvSpPr>
        <p:spPr/>
        <p:txBody>
          <a:bodyPr/>
          <a:lstStyle/>
          <a:p>
            <a:fld id="{90BDCE29-86A1-42B3-8F1A-FB966B7FADD4}" type="datetimeFigureOut">
              <a:rPr lang="en-US" smtClean="0"/>
              <a:t>9/25/2026</a:t>
            </a:fld>
            <a:endParaRPr lang="en-US"/>
          </a:p>
        </p:txBody>
      </p:sp>
      <p:sp>
        <p:nvSpPr>
          <p:cNvPr id="5" name="Footer Placeholder 4">
            <a:extLst>
              <a:ext uri="{FF2B5EF4-FFF2-40B4-BE49-F238E27FC236}">
                <a16:creationId xmlns:a16="http://schemas.microsoft.com/office/drawing/2014/main" id="{534B26F6-D52D-4CBD-B41D-9D77E91C09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7979CF-846E-4714-906C-136EE1CE21BA}"/>
              </a:ext>
            </a:extLst>
          </p:cNvPr>
          <p:cNvSpPr>
            <a:spLocks noGrp="1"/>
          </p:cNvSpPr>
          <p:nvPr>
            <p:ph type="sldNum" sz="quarter" idx="12"/>
          </p:nvPr>
        </p:nvSpPr>
        <p:spPr/>
        <p:txBody>
          <a:bodyPr/>
          <a:lstStyle/>
          <a:p>
            <a:fld id="{35ED67E6-486D-418A-B740-7F23BAF83996}" type="slidenum">
              <a:rPr lang="en-US" smtClean="0"/>
              <a:t>‹#›</a:t>
            </a:fld>
            <a:endParaRPr lang="en-US"/>
          </a:p>
        </p:txBody>
      </p:sp>
    </p:spTree>
    <p:extLst>
      <p:ext uri="{BB962C8B-B14F-4D97-AF65-F5344CB8AC3E}">
        <p14:creationId xmlns:p14="http://schemas.microsoft.com/office/powerpoint/2010/main" val="1409102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A51FF9D-365B-4615-802B-F9E004681D6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466F2A6-A47A-4151-B01F-A5F9F195AA1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F3292D-61BE-4DAA-A2B9-8E90B21D8FFD}"/>
              </a:ext>
            </a:extLst>
          </p:cNvPr>
          <p:cNvSpPr>
            <a:spLocks noGrp="1"/>
          </p:cNvSpPr>
          <p:nvPr>
            <p:ph type="dt" sz="half" idx="10"/>
          </p:nvPr>
        </p:nvSpPr>
        <p:spPr/>
        <p:txBody>
          <a:bodyPr/>
          <a:lstStyle/>
          <a:p>
            <a:fld id="{90BDCE29-86A1-42B3-8F1A-FB966B7FADD4}" type="datetimeFigureOut">
              <a:rPr lang="en-US" smtClean="0"/>
              <a:t>9/25/2026</a:t>
            </a:fld>
            <a:endParaRPr lang="en-US"/>
          </a:p>
        </p:txBody>
      </p:sp>
      <p:sp>
        <p:nvSpPr>
          <p:cNvPr id="5" name="Footer Placeholder 4">
            <a:extLst>
              <a:ext uri="{FF2B5EF4-FFF2-40B4-BE49-F238E27FC236}">
                <a16:creationId xmlns:a16="http://schemas.microsoft.com/office/drawing/2014/main" id="{2B6FBDC7-0C2A-4907-9858-CEEF1871D3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DE99A7-13C3-4B25-837E-6BF90D304E17}"/>
              </a:ext>
            </a:extLst>
          </p:cNvPr>
          <p:cNvSpPr>
            <a:spLocks noGrp="1"/>
          </p:cNvSpPr>
          <p:nvPr>
            <p:ph type="sldNum" sz="quarter" idx="12"/>
          </p:nvPr>
        </p:nvSpPr>
        <p:spPr/>
        <p:txBody>
          <a:bodyPr/>
          <a:lstStyle/>
          <a:p>
            <a:fld id="{35ED67E6-486D-418A-B740-7F23BAF83996}" type="slidenum">
              <a:rPr lang="en-US" smtClean="0"/>
              <a:t>‹#›</a:t>
            </a:fld>
            <a:endParaRPr lang="en-US"/>
          </a:p>
        </p:txBody>
      </p:sp>
    </p:spTree>
    <p:extLst>
      <p:ext uri="{BB962C8B-B14F-4D97-AF65-F5344CB8AC3E}">
        <p14:creationId xmlns:p14="http://schemas.microsoft.com/office/powerpoint/2010/main" val="15040676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53F2C8-F358-4ED5-B892-0C74BBE386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631C6D8-C713-427B-8BEB-B535E36BC1E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671278-06DC-46A4-8EDC-A43F7F098F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BDCE29-86A1-42B3-8F1A-FB966B7FADD4}" type="datetimeFigureOut">
              <a:rPr lang="en-US" smtClean="0"/>
              <a:t>9/25/2026</a:t>
            </a:fld>
            <a:endParaRPr lang="en-US"/>
          </a:p>
        </p:txBody>
      </p:sp>
      <p:sp>
        <p:nvSpPr>
          <p:cNvPr id="5" name="Footer Placeholder 4">
            <a:extLst>
              <a:ext uri="{FF2B5EF4-FFF2-40B4-BE49-F238E27FC236}">
                <a16:creationId xmlns:a16="http://schemas.microsoft.com/office/drawing/2014/main" id="{9920D018-F932-4714-9B1D-4EBFD15F92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6E12ACD-60F0-4D85-AEFA-2B3A4C3FB8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5ED67E6-486D-418A-B740-7F23BAF83996}" type="slidenum">
              <a:rPr lang="en-US" smtClean="0"/>
              <a:t>‹#›</a:t>
            </a:fld>
            <a:endParaRPr lang="en-US"/>
          </a:p>
        </p:txBody>
      </p:sp>
    </p:spTree>
    <p:extLst>
      <p:ext uri="{BB962C8B-B14F-4D97-AF65-F5344CB8AC3E}">
        <p14:creationId xmlns:p14="http://schemas.microsoft.com/office/powerpoint/2010/main" val="29753003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0030B-1E61-4849-B8B0-951C93DEFF60}"/>
              </a:ext>
            </a:extLst>
          </p:cNvPr>
          <p:cNvSpPr>
            <a:spLocks noGrp="1"/>
          </p:cNvSpPr>
          <p:nvPr>
            <p:ph type="ctrTitle"/>
          </p:nvPr>
        </p:nvSpPr>
        <p:spPr/>
        <p:txBody>
          <a:bodyPr>
            <a:normAutofit fontScale="90000"/>
          </a:bodyPr>
          <a:lstStyle/>
          <a:p>
            <a:r>
              <a:rPr lang="en-US" dirty="0"/>
              <a:t>Digital to Physical: Machine Learning for Control System Simulations</a:t>
            </a:r>
          </a:p>
        </p:txBody>
      </p:sp>
      <p:sp>
        <p:nvSpPr>
          <p:cNvPr id="3" name="Subtitle 2">
            <a:extLst>
              <a:ext uri="{FF2B5EF4-FFF2-40B4-BE49-F238E27FC236}">
                <a16:creationId xmlns:a16="http://schemas.microsoft.com/office/drawing/2014/main" id="{A80C50CE-3D5A-46BD-90B8-E0E3D2BDE7C8}"/>
              </a:ext>
            </a:extLst>
          </p:cNvPr>
          <p:cNvSpPr>
            <a:spLocks noGrp="1"/>
          </p:cNvSpPr>
          <p:nvPr>
            <p:ph type="subTitle" idx="1"/>
          </p:nvPr>
        </p:nvSpPr>
        <p:spPr/>
        <p:txBody>
          <a:bodyPr/>
          <a:lstStyle/>
          <a:p>
            <a:r>
              <a:rPr lang="en-US" dirty="0"/>
              <a:t>Evan Moore</a:t>
            </a:r>
          </a:p>
          <a:p>
            <a:r>
              <a:rPr lang="en-US" dirty="0"/>
              <a:t>9/25/26</a:t>
            </a:r>
          </a:p>
        </p:txBody>
      </p:sp>
    </p:spTree>
    <p:extLst>
      <p:ext uri="{BB962C8B-B14F-4D97-AF65-F5344CB8AC3E}">
        <p14:creationId xmlns:p14="http://schemas.microsoft.com/office/powerpoint/2010/main" val="24988484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3987-3810-4C7B-9BE1-C5492E2FF51A}"/>
              </a:ext>
            </a:extLst>
          </p:cNvPr>
          <p:cNvSpPr>
            <a:spLocks noGrp="1"/>
          </p:cNvSpPr>
          <p:nvPr>
            <p:ph type="title"/>
          </p:nvPr>
        </p:nvSpPr>
        <p:spPr/>
        <p:txBody>
          <a:bodyPr/>
          <a:lstStyle/>
          <a:p>
            <a:r>
              <a:rPr lang="en-US"/>
              <a:t>Slide 2: Project Goals</a:t>
            </a:r>
            <a:endParaRPr lang="en-US" dirty="0"/>
          </a:p>
        </p:txBody>
      </p:sp>
      <p:sp>
        <p:nvSpPr>
          <p:cNvPr id="3" name="Content Placeholder 2">
            <a:extLst>
              <a:ext uri="{FF2B5EF4-FFF2-40B4-BE49-F238E27FC236}">
                <a16:creationId xmlns:a16="http://schemas.microsoft.com/office/drawing/2014/main" id="{A76D46E8-BC77-41EA-8A34-2351ECB228BE}"/>
              </a:ext>
            </a:extLst>
          </p:cNvPr>
          <p:cNvSpPr>
            <a:spLocks noGrp="1"/>
          </p:cNvSpPr>
          <p:nvPr>
            <p:ph idx="1"/>
          </p:nvPr>
        </p:nvSpPr>
        <p:spPr>
          <a:xfrm>
            <a:off x="838200" y="1825625"/>
            <a:ext cx="6364574" cy="4351338"/>
          </a:xfrm>
        </p:spPr>
        <p:txBody>
          <a:bodyPr>
            <a:normAutofit lnSpcReduction="10000"/>
          </a:bodyPr>
          <a:lstStyle/>
          <a:p>
            <a:r>
              <a:rPr lang="en-US"/>
              <a:t>Apply machine learning (ML) to simulations of real-world control systems</a:t>
            </a:r>
          </a:p>
          <a:p>
            <a:r>
              <a:rPr lang="en-US"/>
              <a:t>Explore the gap between theory (physics &amp; simulations) and practicality (physical systems)</a:t>
            </a:r>
          </a:p>
          <a:p>
            <a:r>
              <a:rPr lang="en-US"/>
              <a:t>Bridge that simulation gap with ML compensation</a:t>
            </a:r>
          </a:p>
          <a:p>
            <a:pPr marL="0" indent="0">
              <a:buNone/>
            </a:pPr>
            <a:r>
              <a:rPr lang="en-US" b="1"/>
              <a:t>Overall Goal:</a:t>
            </a:r>
          </a:p>
          <a:p>
            <a:r>
              <a:rPr lang="en-US"/>
              <a:t>Streamline the process of critically balancing control systems</a:t>
            </a:r>
            <a:endParaRPr lang="en-US" dirty="0"/>
          </a:p>
        </p:txBody>
      </p:sp>
      <p:pic>
        <p:nvPicPr>
          <p:cNvPr id="7" name="Picture 6" descr="Two-Wheel Self-Balancing Robot | 3D CAD Model Library | GrabCAD">
            <a:extLst>
              <a:ext uri="{FF2B5EF4-FFF2-40B4-BE49-F238E27FC236}">
                <a16:creationId xmlns:a16="http://schemas.microsoft.com/office/drawing/2014/main" id="{BA747FE8-D7DB-EB47-F213-63B6045FAD45}"/>
              </a:ext>
            </a:extLst>
          </p:cNvPr>
          <p:cNvPicPr>
            <a:picLocks noChangeAspect="1"/>
          </p:cNvPicPr>
          <p:nvPr/>
        </p:nvPicPr>
        <p:blipFill>
          <a:blip r:embed="rId3"/>
          <a:stretch>
            <a:fillRect/>
          </a:stretch>
        </p:blipFill>
        <p:spPr>
          <a:xfrm>
            <a:off x="6736829" y="1143000"/>
            <a:ext cx="6096000" cy="4572000"/>
          </a:xfrm>
          <a:prstGeom prst="rect">
            <a:avLst/>
          </a:prstGeom>
        </p:spPr>
      </p:pic>
    </p:spTree>
    <p:extLst>
      <p:ext uri="{BB962C8B-B14F-4D97-AF65-F5344CB8AC3E}">
        <p14:creationId xmlns:p14="http://schemas.microsoft.com/office/powerpoint/2010/main" val="3348751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0570B-8644-447E-B091-63C9EB4AA205}"/>
              </a:ext>
            </a:extLst>
          </p:cNvPr>
          <p:cNvSpPr>
            <a:spLocks noGrp="1"/>
          </p:cNvSpPr>
          <p:nvPr>
            <p:ph type="title"/>
          </p:nvPr>
        </p:nvSpPr>
        <p:spPr/>
        <p:txBody>
          <a:bodyPr/>
          <a:lstStyle/>
          <a:p>
            <a:r>
              <a:rPr lang="en-US" dirty="0"/>
              <a:t>Slide 3: Progress </a:t>
            </a:r>
          </a:p>
        </p:txBody>
      </p:sp>
      <p:sp>
        <p:nvSpPr>
          <p:cNvPr id="3" name="Content Placeholder 2">
            <a:extLst>
              <a:ext uri="{FF2B5EF4-FFF2-40B4-BE49-F238E27FC236}">
                <a16:creationId xmlns:a16="http://schemas.microsoft.com/office/drawing/2014/main" id="{F4B1BE7A-2352-4B3C-BF51-380A64744009}"/>
              </a:ext>
            </a:extLst>
          </p:cNvPr>
          <p:cNvSpPr>
            <a:spLocks noGrp="1"/>
          </p:cNvSpPr>
          <p:nvPr>
            <p:ph idx="1"/>
          </p:nvPr>
        </p:nvSpPr>
        <p:spPr/>
        <p:txBody>
          <a:bodyPr/>
          <a:lstStyle/>
          <a:p>
            <a:r>
              <a:rPr lang="en-US" dirty="0"/>
              <a:t>Organized a software stack</a:t>
            </a:r>
          </a:p>
          <a:p>
            <a:r>
              <a:rPr lang="en-US" dirty="0" err="1"/>
              <a:t>Lagrangian</a:t>
            </a:r>
            <a:r>
              <a:rPr lang="en-US" dirty="0"/>
              <a:t> Physics Simulation Created</a:t>
            </a:r>
          </a:p>
          <a:p>
            <a:r>
              <a:rPr lang="en-US" dirty="0"/>
              <a:t>Motor interference, sensor noise, max torque, </a:t>
            </a:r>
            <a:r>
              <a:rPr lang="en-US" dirty="0" err="1"/>
              <a:t>etc</a:t>
            </a:r>
            <a:endParaRPr lang="en-US" dirty="0"/>
          </a:p>
          <a:p>
            <a:r>
              <a:rPr lang="en-US" dirty="0"/>
              <a:t>Models plugged in</a:t>
            </a:r>
          </a:p>
          <a:p>
            <a:r>
              <a:rPr lang="en-US" dirty="0"/>
              <a:t>Performance optimizations for local hardware</a:t>
            </a:r>
          </a:p>
          <a:p>
            <a:r>
              <a:rPr lang="en-US" dirty="0"/>
              <a:t>Unified parameter configuration file</a:t>
            </a:r>
          </a:p>
          <a:p>
            <a:endParaRPr lang="en-US" dirty="0"/>
          </a:p>
        </p:txBody>
      </p:sp>
    </p:spTree>
    <p:extLst>
      <p:ext uri="{BB962C8B-B14F-4D97-AF65-F5344CB8AC3E}">
        <p14:creationId xmlns:p14="http://schemas.microsoft.com/office/powerpoint/2010/main" val="1865445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B5D0F-17E3-621D-F304-4E0EBE79FF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5E7401-5EF3-15A6-94A0-C169EA1B6C94}"/>
              </a:ext>
            </a:extLst>
          </p:cNvPr>
          <p:cNvSpPr>
            <a:spLocks noGrp="1"/>
          </p:cNvSpPr>
          <p:nvPr>
            <p:ph type="title"/>
          </p:nvPr>
        </p:nvSpPr>
        <p:spPr/>
        <p:txBody>
          <a:bodyPr/>
          <a:lstStyle/>
          <a:p>
            <a:r>
              <a:rPr lang="en-US" dirty="0"/>
              <a:t>Slide 3: Progress </a:t>
            </a:r>
          </a:p>
        </p:txBody>
      </p:sp>
      <p:sp>
        <p:nvSpPr>
          <p:cNvPr id="3" name="Content Placeholder 2">
            <a:extLst>
              <a:ext uri="{FF2B5EF4-FFF2-40B4-BE49-F238E27FC236}">
                <a16:creationId xmlns:a16="http://schemas.microsoft.com/office/drawing/2014/main" id="{A1762046-604A-B6E9-8879-B0AA67B008DE}"/>
              </a:ext>
            </a:extLst>
          </p:cNvPr>
          <p:cNvSpPr>
            <a:spLocks noGrp="1"/>
          </p:cNvSpPr>
          <p:nvPr>
            <p:ph idx="1"/>
          </p:nvPr>
        </p:nvSpPr>
        <p:spPr/>
        <p:txBody>
          <a:bodyPr/>
          <a:lstStyle/>
          <a:p>
            <a:r>
              <a:rPr lang="en-US" dirty="0"/>
              <a:t>Started to explore current literature</a:t>
            </a:r>
          </a:p>
          <a:p>
            <a:r>
              <a:rPr lang="en-US" dirty="0"/>
              <a:t>“Physics Informed Machine Learning”</a:t>
            </a:r>
          </a:p>
          <a:p>
            <a:r>
              <a:rPr lang="en-US" dirty="0"/>
              <a:t>“White Box” vs “Black Box” modeling</a:t>
            </a:r>
          </a:p>
        </p:txBody>
      </p:sp>
      <p:pic>
        <p:nvPicPr>
          <p:cNvPr id="5" name="Picture 4">
            <a:extLst>
              <a:ext uri="{FF2B5EF4-FFF2-40B4-BE49-F238E27FC236}">
                <a16:creationId xmlns:a16="http://schemas.microsoft.com/office/drawing/2014/main" id="{BBEF9E16-DEE5-8B75-DC1F-C0A7A6E051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1704320" cy="6827520"/>
          </a:xfrm>
          <a:prstGeom prst="rect">
            <a:avLst/>
          </a:prstGeom>
        </p:spPr>
      </p:pic>
    </p:spTree>
    <p:extLst>
      <p:ext uri="{BB962C8B-B14F-4D97-AF65-F5344CB8AC3E}">
        <p14:creationId xmlns:p14="http://schemas.microsoft.com/office/powerpoint/2010/main" val="36373556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7F5FE-E8CB-4B33-8B5A-5404CA19573B}"/>
              </a:ext>
            </a:extLst>
          </p:cNvPr>
          <p:cNvSpPr>
            <a:spLocks noGrp="1"/>
          </p:cNvSpPr>
          <p:nvPr>
            <p:ph type="title"/>
          </p:nvPr>
        </p:nvSpPr>
        <p:spPr/>
        <p:txBody>
          <a:bodyPr/>
          <a:lstStyle/>
          <a:p>
            <a:r>
              <a:rPr lang="en-US" dirty="0"/>
              <a:t>Slide 4: Challenges/Issues</a:t>
            </a:r>
          </a:p>
        </p:txBody>
      </p:sp>
      <p:sp>
        <p:nvSpPr>
          <p:cNvPr id="3" name="Content Placeholder 2">
            <a:extLst>
              <a:ext uri="{FF2B5EF4-FFF2-40B4-BE49-F238E27FC236}">
                <a16:creationId xmlns:a16="http://schemas.microsoft.com/office/drawing/2014/main" id="{5053997A-1AC2-4CA9-B781-1EBE596CC885}"/>
              </a:ext>
            </a:extLst>
          </p:cNvPr>
          <p:cNvSpPr>
            <a:spLocks noGrp="1"/>
          </p:cNvSpPr>
          <p:nvPr>
            <p:ph idx="1"/>
          </p:nvPr>
        </p:nvSpPr>
        <p:spPr/>
        <p:txBody>
          <a:bodyPr/>
          <a:lstStyle/>
          <a:p>
            <a:r>
              <a:rPr lang="en-US" dirty="0"/>
              <a:t>Simulation times are long</a:t>
            </a:r>
          </a:p>
          <a:p>
            <a:r>
              <a:rPr lang="en-US" dirty="0"/>
              <a:t>Visualization is difficult</a:t>
            </a:r>
          </a:p>
          <a:p>
            <a:r>
              <a:rPr lang="en-US" dirty="0"/>
              <a:t>Moderate tech debt</a:t>
            </a:r>
          </a:p>
          <a:p>
            <a:pPr marL="0" indent="0">
              <a:buNone/>
            </a:pPr>
            <a:endParaRPr lang="en-US" dirty="0"/>
          </a:p>
        </p:txBody>
      </p:sp>
    </p:spTree>
    <p:extLst>
      <p:ext uri="{BB962C8B-B14F-4D97-AF65-F5344CB8AC3E}">
        <p14:creationId xmlns:p14="http://schemas.microsoft.com/office/powerpoint/2010/main" val="34506863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BE632-4DC7-4B06-B924-E72FEC130C87}"/>
              </a:ext>
            </a:extLst>
          </p:cNvPr>
          <p:cNvSpPr>
            <a:spLocks noGrp="1"/>
          </p:cNvSpPr>
          <p:nvPr>
            <p:ph type="title"/>
          </p:nvPr>
        </p:nvSpPr>
        <p:spPr/>
        <p:txBody>
          <a:bodyPr/>
          <a:lstStyle/>
          <a:p>
            <a:r>
              <a:rPr lang="en-US" dirty="0"/>
              <a:t>Slide 5: Goals</a:t>
            </a:r>
          </a:p>
        </p:txBody>
      </p:sp>
      <p:sp>
        <p:nvSpPr>
          <p:cNvPr id="3" name="Content Placeholder 2">
            <a:extLst>
              <a:ext uri="{FF2B5EF4-FFF2-40B4-BE49-F238E27FC236}">
                <a16:creationId xmlns:a16="http://schemas.microsoft.com/office/drawing/2014/main" id="{5B92FFE8-4C91-4BC2-9456-FAD72D2B2EB4}"/>
              </a:ext>
            </a:extLst>
          </p:cNvPr>
          <p:cNvSpPr>
            <a:spLocks noGrp="1"/>
          </p:cNvSpPr>
          <p:nvPr>
            <p:ph idx="1"/>
          </p:nvPr>
        </p:nvSpPr>
        <p:spPr/>
        <p:txBody>
          <a:bodyPr/>
          <a:lstStyle/>
          <a:p>
            <a:pPr marL="514350" indent="-514350">
              <a:buAutoNum type="arabicPeriod"/>
            </a:pPr>
            <a:r>
              <a:rPr lang="en-US" dirty="0"/>
              <a:t>Establish an understanding of current ML physics simulation literature</a:t>
            </a:r>
          </a:p>
          <a:p>
            <a:pPr marL="514350" indent="-514350">
              <a:buAutoNum type="arabicPeriod"/>
            </a:pPr>
            <a:r>
              <a:rPr lang="en-US" dirty="0"/>
              <a:t>Build a classical physics simulation in Python</a:t>
            </a:r>
          </a:p>
          <a:p>
            <a:pPr marL="514350" indent="-514350">
              <a:buAutoNum type="arabicPeriod"/>
            </a:pPr>
            <a:r>
              <a:rPr lang="en-US" dirty="0"/>
              <a:t>Connect ML models</a:t>
            </a:r>
          </a:p>
          <a:p>
            <a:pPr marL="514350" indent="-514350">
              <a:buAutoNum type="arabicPeriod"/>
            </a:pPr>
            <a:r>
              <a:rPr lang="en-US" dirty="0"/>
              <a:t>Use established control system benchmarking methodologies to compare model convergence</a:t>
            </a:r>
          </a:p>
          <a:p>
            <a:pPr marL="514350" indent="-514350">
              <a:buAutoNum type="arabicPeriod"/>
            </a:pPr>
            <a:r>
              <a:rPr lang="en-US" dirty="0"/>
              <a:t>Build physical model and compare to the simulation?</a:t>
            </a:r>
          </a:p>
          <a:p>
            <a:pPr marL="0" indent="0">
              <a:buNone/>
            </a:pPr>
            <a:endParaRPr lang="en-US" dirty="0"/>
          </a:p>
        </p:txBody>
      </p:sp>
    </p:spTree>
    <p:extLst>
      <p:ext uri="{BB962C8B-B14F-4D97-AF65-F5344CB8AC3E}">
        <p14:creationId xmlns:p14="http://schemas.microsoft.com/office/powerpoint/2010/main" val="40240009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59F67-578D-4602-9569-7FCA0713D9B1}"/>
              </a:ext>
            </a:extLst>
          </p:cNvPr>
          <p:cNvSpPr>
            <a:spLocks noGrp="1"/>
          </p:cNvSpPr>
          <p:nvPr>
            <p:ph type="title"/>
          </p:nvPr>
        </p:nvSpPr>
        <p:spPr/>
        <p:txBody>
          <a:bodyPr/>
          <a:lstStyle/>
          <a:p>
            <a:r>
              <a:rPr lang="en-US" dirty="0"/>
              <a:t>Presentation to be  turn in each project workday:</a:t>
            </a:r>
          </a:p>
        </p:txBody>
      </p:sp>
      <p:sp>
        <p:nvSpPr>
          <p:cNvPr id="3" name="Content Placeholder 2">
            <a:extLst>
              <a:ext uri="{FF2B5EF4-FFF2-40B4-BE49-F238E27FC236}">
                <a16:creationId xmlns:a16="http://schemas.microsoft.com/office/drawing/2014/main" id="{666AF52D-B651-437B-8ED2-0C5DD3636C04}"/>
              </a:ext>
            </a:extLst>
          </p:cNvPr>
          <p:cNvSpPr>
            <a:spLocks noGrp="1"/>
          </p:cNvSpPr>
          <p:nvPr>
            <p:ph idx="1"/>
          </p:nvPr>
        </p:nvSpPr>
        <p:spPr/>
        <p:txBody>
          <a:bodyPr/>
          <a:lstStyle/>
          <a:p>
            <a:r>
              <a:rPr lang="en-US" dirty="0" err="1"/>
              <a:t>Powerpoint</a:t>
            </a:r>
            <a:r>
              <a:rPr lang="en-US" dirty="0"/>
              <a:t> Presentation to </a:t>
            </a:r>
            <a:r>
              <a:rPr lang="en-US" dirty="0" err="1"/>
              <a:t>Gradescope</a:t>
            </a:r>
            <a:r>
              <a:rPr lang="en-US" dirty="0"/>
              <a:t>.</a:t>
            </a:r>
          </a:p>
        </p:txBody>
      </p:sp>
      <p:graphicFrame>
        <p:nvGraphicFramePr>
          <p:cNvPr id="4" name="Table 3">
            <a:extLst>
              <a:ext uri="{FF2B5EF4-FFF2-40B4-BE49-F238E27FC236}">
                <a16:creationId xmlns:a16="http://schemas.microsoft.com/office/drawing/2014/main" id="{93D059F1-CA6C-F664-D090-7522141BF376}"/>
              </a:ext>
            </a:extLst>
          </p:cNvPr>
          <p:cNvGraphicFramePr>
            <a:graphicFrameLocks noGrp="1"/>
          </p:cNvGraphicFramePr>
          <p:nvPr>
            <p:extLst>
              <p:ext uri="{D42A27DB-BD31-4B8C-83A1-F6EECF244321}">
                <p14:modId xmlns:p14="http://schemas.microsoft.com/office/powerpoint/2010/main" val="3496949741"/>
              </p:ext>
            </p:extLst>
          </p:nvPr>
        </p:nvGraphicFramePr>
        <p:xfrm>
          <a:off x="2134492" y="2494243"/>
          <a:ext cx="7321275" cy="4139646"/>
        </p:xfrm>
        <a:graphic>
          <a:graphicData uri="http://schemas.openxmlformats.org/drawingml/2006/table">
            <a:tbl>
              <a:tblPr/>
              <a:tblGrid>
                <a:gridCol w="772428">
                  <a:extLst>
                    <a:ext uri="{9D8B030D-6E8A-4147-A177-3AD203B41FA5}">
                      <a16:colId xmlns:a16="http://schemas.microsoft.com/office/drawing/2014/main" val="3667888962"/>
                    </a:ext>
                  </a:extLst>
                </a:gridCol>
                <a:gridCol w="738844">
                  <a:extLst>
                    <a:ext uri="{9D8B030D-6E8A-4147-A177-3AD203B41FA5}">
                      <a16:colId xmlns:a16="http://schemas.microsoft.com/office/drawing/2014/main" val="2478123673"/>
                    </a:ext>
                  </a:extLst>
                </a:gridCol>
                <a:gridCol w="2636331">
                  <a:extLst>
                    <a:ext uri="{9D8B030D-6E8A-4147-A177-3AD203B41FA5}">
                      <a16:colId xmlns:a16="http://schemas.microsoft.com/office/drawing/2014/main" val="961590724"/>
                    </a:ext>
                  </a:extLst>
                </a:gridCol>
                <a:gridCol w="3173672">
                  <a:extLst>
                    <a:ext uri="{9D8B030D-6E8A-4147-A177-3AD203B41FA5}">
                      <a16:colId xmlns:a16="http://schemas.microsoft.com/office/drawing/2014/main" val="2532058338"/>
                    </a:ext>
                  </a:extLst>
                </a:gridCol>
              </a:tblGrid>
              <a:tr h="151048">
                <a:tc>
                  <a:txBody>
                    <a:bodyPr/>
                    <a:lstStyle/>
                    <a:p>
                      <a:pPr algn="ctr" fontAlgn="ctr">
                        <a:buNone/>
                      </a:pPr>
                      <a:r>
                        <a:rPr lang="en-US" sz="1400" b="1" i="0" dirty="0">
                          <a:solidFill>
                            <a:srgbClr val="000000"/>
                          </a:solidFill>
                          <a:effectLst/>
                          <a:latin typeface="Calibri" panose="020F0502020204030204" pitchFamily="34" charset="0"/>
                        </a:rPr>
                        <a:t>Week</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400" b="1" i="0">
                          <a:solidFill>
                            <a:srgbClr val="000000"/>
                          </a:solidFill>
                          <a:effectLst/>
                          <a:latin typeface="Calibri" panose="020F0502020204030204" pitchFamily="34" charset="0"/>
                        </a:rPr>
                        <a:t>Date</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1" i="0">
                          <a:solidFill>
                            <a:srgbClr val="000000"/>
                          </a:solidFill>
                          <a:effectLst/>
                          <a:latin typeface="Calibri" panose="020F0502020204030204" pitchFamily="34" charset="0"/>
                        </a:rPr>
                        <a:t>Topics/Class time</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ctr">
                        <a:buNone/>
                      </a:pPr>
                      <a:r>
                        <a:rPr lang="en-US" sz="1400" b="1" i="0">
                          <a:solidFill>
                            <a:srgbClr val="000000"/>
                          </a:solidFill>
                          <a:effectLst/>
                          <a:latin typeface="Calibri" panose="020F0502020204030204" pitchFamily="34" charset="0"/>
                        </a:rPr>
                        <a:t>Due</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5504010"/>
                  </a:ext>
                </a:extLst>
              </a:tr>
              <a:tr h="295230">
                <a:tc>
                  <a:txBody>
                    <a:bodyPr/>
                    <a:lstStyle/>
                    <a:p>
                      <a:pPr algn="ctr" fontAlgn="ctr">
                        <a:buNone/>
                      </a:pPr>
                      <a:r>
                        <a:rPr lang="en-US" sz="1400" b="1" i="0">
                          <a:solidFill>
                            <a:srgbClr val="000000"/>
                          </a:solidFill>
                          <a:effectLst/>
                          <a:latin typeface="Calibri" panose="020F0502020204030204" pitchFamily="34" charset="0"/>
                        </a:rPr>
                        <a:t>1</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a:solidFill>
                            <a:srgbClr val="000000"/>
                          </a:solidFill>
                          <a:effectLst/>
                          <a:latin typeface="Calibri" panose="020F0502020204030204" pitchFamily="34" charset="0"/>
                        </a:rPr>
                        <a:t>8/29</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0" i="0">
                          <a:solidFill>
                            <a:srgbClr val="000000"/>
                          </a:solidFill>
                          <a:effectLst/>
                          <a:latin typeface="Calibri" panose="020F0502020204030204" pitchFamily="34" charset="0"/>
                        </a:rPr>
                        <a:t>Course Intro/Problem finding</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ctr">
                        <a:buNone/>
                      </a:pPr>
                      <a:r>
                        <a:rPr lang="en-US" sz="1400" b="0" i="0">
                          <a:solidFill>
                            <a:srgbClr val="000000"/>
                          </a:solidFill>
                          <a:effectLst/>
                          <a:latin typeface="Calibri" panose="020F0502020204030204" pitchFamily="34" charset="0"/>
                        </a:rPr>
                        <a:t>M1: Draft of potential ideas for Project</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236731"/>
                  </a:ext>
                </a:extLst>
              </a:tr>
              <a:tr h="151048">
                <a:tc>
                  <a:txBody>
                    <a:bodyPr/>
                    <a:lstStyle/>
                    <a:p>
                      <a:pPr algn="ctr" fontAlgn="ctr">
                        <a:buNone/>
                      </a:pPr>
                      <a:r>
                        <a:rPr lang="en-US" sz="1400" b="1" i="0">
                          <a:solidFill>
                            <a:srgbClr val="000000"/>
                          </a:solidFill>
                          <a:effectLst/>
                          <a:latin typeface="Calibri" panose="020F0502020204030204" pitchFamily="34" charset="0"/>
                        </a:rPr>
                        <a:t>2</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a:solidFill>
                            <a:srgbClr val="000000"/>
                          </a:solidFill>
                          <a:effectLst/>
                          <a:latin typeface="Calibri" panose="020F0502020204030204" pitchFamily="34" charset="0"/>
                        </a:rPr>
                        <a:t>9/5</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0" i="0" dirty="0">
                          <a:solidFill>
                            <a:srgbClr val="000000"/>
                          </a:solidFill>
                          <a:effectLst/>
                          <a:latin typeface="Calibri" panose="020F0502020204030204" pitchFamily="34" charset="0"/>
                        </a:rPr>
                        <a:t>Peer Mentoring Day 1</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fontAlgn="ctr">
                        <a:buNone/>
                      </a:pPr>
                      <a:r>
                        <a:rPr lang="en-US" sz="1400" b="0" i="0">
                          <a:solidFill>
                            <a:srgbClr val="000000"/>
                          </a:solidFill>
                          <a:effectLst/>
                          <a:latin typeface="Calibri" panose="020F0502020204030204" pitchFamily="34" charset="0"/>
                        </a:rPr>
                        <a:t>Project Proposals – Form 23 due </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48085482"/>
                  </a:ext>
                </a:extLst>
              </a:tr>
              <a:tr h="151048">
                <a:tc>
                  <a:txBody>
                    <a:bodyPr/>
                    <a:lstStyle/>
                    <a:p>
                      <a:pPr algn="ctr" fontAlgn="ctr">
                        <a:buNone/>
                      </a:pPr>
                      <a:r>
                        <a:rPr lang="en-US" sz="1400" b="1" i="0">
                          <a:solidFill>
                            <a:srgbClr val="000000"/>
                          </a:solidFill>
                          <a:effectLst/>
                          <a:latin typeface="Calibri" panose="020F0502020204030204" pitchFamily="34" charset="0"/>
                        </a:rPr>
                        <a:t>3</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a:solidFill>
                            <a:srgbClr val="000000"/>
                          </a:solidFill>
                          <a:effectLst/>
                          <a:latin typeface="Calibri" panose="020F0502020204030204" pitchFamily="34" charset="0"/>
                        </a:rPr>
                        <a:t>9/12</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0" i="0">
                          <a:solidFill>
                            <a:srgbClr val="000000"/>
                          </a:solidFill>
                          <a:effectLst/>
                          <a:latin typeface="Calibri" panose="020F0502020204030204" pitchFamily="34" charset="0"/>
                        </a:rPr>
                        <a:t>Project Workday </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ctr">
                        <a:buNone/>
                      </a:pPr>
                      <a:r>
                        <a:rPr lang="en-US" sz="1400" b="0" i="0">
                          <a:solidFill>
                            <a:srgbClr val="000000"/>
                          </a:solidFill>
                          <a:effectLst/>
                          <a:latin typeface="Calibri" panose="020F0502020204030204" pitchFamily="34" charset="0"/>
                        </a:rPr>
                        <a:t>Progress Update 1</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68993868"/>
                  </a:ext>
                </a:extLst>
              </a:tr>
              <a:tr h="151048">
                <a:tc>
                  <a:txBody>
                    <a:bodyPr/>
                    <a:lstStyle/>
                    <a:p>
                      <a:pPr algn="ctr" fontAlgn="ctr">
                        <a:buNone/>
                      </a:pPr>
                      <a:r>
                        <a:rPr lang="en-US" sz="1400" b="1" i="0">
                          <a:solidFill>
                            <a:srgbClr val="000000"/>
                          </a:solidFill>
                          <a:effectLst/>
                          <a:latin typeface="Calibri" panose="020F0502020204030204" pitchFamily="34" charset="0"/>
                        </a:rPr>
                        <a:t>4</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a:solidFill>
                            <a:srgbClr val="000000"/>
                          </a:solidFill>
                          <a:effectLst/>
                          <a:latin typeface="Calibri" panose="020F0502020204030204" pitchFamily="34" charset="0"/>
                        </a:rPr>
                        <a:t>9/19</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0" i="0" dirty="0">
                          <a:solidFill>
                            <a:srgbClr val="000000"/>
                          </a:solidFill>
                          <a:effectLst/>
                          <a:latin typeface="Calibri" panose="020F0502020204030204" pitchFamily="34" charset="0"/>
                        </a:rPr>
                        <a:t>Peer Mentoring Day 2</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fontAlgn="ctr">
                        <a:buNone/>
                      </a:pPr>
                      <a:r>
                        <a:rPr lang="en-US" sz="1400" b="0" i="0">
                          <a:solidFill>
                            <a:srgbClr val="000000"/>
                          </a:solidFill>
                          <a:effectLst/>
                          <a:latin typeface="Calibri" panose="020F0502020204030204" pitchFamily="34" charset="0"/>
                        </a:rPr>
                        <a:t> </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5319144"/>
                  </a:ext>
                </a:extLst>
              </a:tr>
              <a:tr h="151048">
                <a:tc>
                  <a:txBody>
                    <a:bodyPr/>
                    <a:lstStyle/>
                    <a:p>
                      <a:pPr algn="ctr" fontAlgn="ctr">
                        <a:buNone/>
                      </a:pPr>
                      <a:r>
                        <a:rPr lang="en-US" sz="1400" b="1" i="0">
                          <a:solidFill>
                            <a:srgbClr val="000000"/>
                          </a:solidFill>
                          <a:effectLst/>
                          <a:latin typeface="Calibri" panose="020F0502020204030204" pitchFamily="34" charset="0"/>
                        </a:rPr>
                        <a:t>5</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a:solidFill>
                            <a:srgbClr val="000000"/>
                          </a:solidFill>
                          <a:effectLst/>
                          <a:latin typeface="Calibri" panose="020F0502020204030204" pitchFamily="34" charset="0"/>
                        </a:rPr>
                        <a:t>9/26</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0" i="0">
                          <a:solidFill>
                            <a:srgbClr val="000000"/>
                          </a:solidFill>
                          <a:effectLst/>
                          <a:latin typeface="Calibri" panose="020F0502020204030204" pitchFamily="34" charset="0"/>
                        </a:rPr>
                        <a:t>Project Workday</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ctr">
                        <a:buNone/>
                      </a:pPr>
                      <a:r>
                        <a:rPr lang="en-US" sz="1400" b="0" i="0">
                          <a:solidFill>
                            <a:srgbClr val="000000"/>
                          </a:solidFill>
                          <a:effectLst/>
                          <a:latin typeface="Calibri" panose="020F0502020204030204" pitchFamily="34" charset="0"/>
                        </a:rPr>
                        <a:t>Progress Update 2</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9035603"/>
                  </a:ext>
                </a:extLst>
              </a:tr>
              <a:tr h="151048">
                <a:tc>
                  <a:txBody>
                    <a:bodyPr/>
                    <a:lstStyle/>
                    <a:p>
                      <a:pPr algn="ctr" fontAlgn="ctr">
                        <a:buNone/>
                      </a:pPr>
                      <a:r>
                        <a:rPr lang="en-US" sz="1400" b="1" i="0">
                          <a:solidFill>
                            <a:srgbClr val="000000"/>
                          </a:solidFill>
                          <a:effectLst/>
                          <a:latin typeface="Calibri" panose="020F0502020204030204" pitchFamily="34" charset="0"/>
                        </a:rPr>
                        <a:t>6</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a:solidFill>
                            <a:srgbClr val="000000"/>
                          </a:solidFill>
                          <a:effectLst/>
                          <a:latin typeface="Calibri" panose="020F0502020204030204" pitchFamily="34" charset="0"/>
                        </a:rPr>
                        <a:t>10/3</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0" i="0" dirty="0">
                          <a:solidFill>
                            <a:srgbClr val="000000"/>
                          </a:solidFill>
                          <a:effectLst/>
                          <a:latin typeface="Calibri" panose="020F0502020204030204" pitchFamily="34" charset="0"/>
                        </a:rPr>
                        <a:t>Peer Mentoring Day 3</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fontAlgn="ctr">
                        <a:buNone/>
                      </a:pPr>
                      <a:r>
                        <a:rPr lang="en-US" sz="1400" b="0" i="0">
                          <a:solidFill>
                            <a:srgbClr val="000000"/>
                          </a:solidFill>
                          <a:effectLst/>
                          <a:latin typeface="Calibri" panose="020F0502020204030204" pitchFamily="34" charset="0"/>
                        </a:rPr>
                        <a:t> </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1147776"/>
                  </a:ext>
                </a:extLst>
              </a:tr>
              <a:tr h="151048">
                <a:tc>
                  <a:txBody>
                    <a:bodyPr/>
                    <a:lstStyle/>
                    <a:p>
                      <a:pPr algn="ctr" fontAlgn="ctr">
                        <a:buNone/>
                      </a:pPr>
                      <a:r>
                        <a:rPr lang="en-US" sz="1400" b="1" i="0">
                          <a:solidFill>
                            <a:srgbClr val="000000"/>
                          </a:solidFill>
                          <a:effectLst/>
                          <a:latin typeface="Calibri" panose="020F0502020204030204" pitchFamily="34" charset="0"/>
                        </a:rPr>
                        <a:t>7</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a:solidFill>
                            <a:srgbClr val="000000"/>
                          </a:solidFill>
                          <a:effectLst/>
                          <a:latin typeface="Calibri" panose="020F0502020204030204" pitchFamily="34" charset="0"/>
                        </a:rPr>
                        <a:t>10/10</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0" i="0">
                          <a:solidFill>
                            <a:srgbClr val="000000"/>
                          </a:solidFill>
                          <a:effectLst/>
                          <a:latin typeface="Calibri" panose="020F0502020204030204" pitchFamily="34" charset="0"/>
                        </a:rPr>
                        <a:t>In-class Design Review </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ctr">
                        <a:buNone/>
                      </a:pPr>
                      <a:r>
                        <a:rPr lang="en-US" sz="1400" b="0" i="0">
                          <a:solidFill>
                            <a:srgbClr val="000000"/>
                          </a:solidFill>
                          <a:effectLst/>
                          <a:latin typeface="Calibri" panose="020F0502020204030204" pitchFamily="34" charset="0"/>
                        </a:rPr>
                        <a:t>M2: Midterm Design Review</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69240779"/>
                  </a:ext>
                </a:extLst>
              </a:tr>
              <a:tr h="151048">
                <a:tc>
                  <a:txBody>
                    <a:bodyPr/>
                    <a:lstStyle/>
                    <a:p>
                      <a:pPr algn="ctr" fontAlgn="ctr">
                        <a:buNone/>
                      </a:pPr>
                      <a:r>
                        <a:rPr lang="en-US" sz="1400" b="1" i="0">
                          <a:solidFill>
                            <a:srgbClr val="000000"/>
                          </a:solidFill>
                          <a:effectLst/>
                          <a:latin typeface="Calibri" panose="020F0502020204030204" pitchFamily="34" charset="0"/>
                        </a:rPr>
                        <a:t>8</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a:solidFill>
                            <a:srgbClr val="000000"/>
                          </a:solidFill>
                          <a:effectLst/>
                          <a:latin typeface="Calibri" panose="020F0502020204030204" pitchFamily="34" charset="0"/>
                        </a:rPr>
                        <a:t>10/17</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0" i="0" dirty="0">
                          <a:solidFill>
                            <a:srgbClr val="000000"/>
                          </a:solidFill>
                          <a:effectLst/>
                          <a:latin typeface="Calibri" panose="020F0502020204030204" pitchFamily="34" charset="0"/>
                        </a:rPr>
                        <a:t>Peer Mentoring Day 4</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fontAlgn="ctr">
                        <a:buNone/>
                      </a:pPr>
                      <a:r>
                        <a:rPr lang="en-US" sz="1400" b="0" i="0">
                          <a:solidFill>
                            <a:srgbClr val="000000"/>
                          </a:solidFill>
                          <a:effectLst/>
                          <a:latin typeface="Calibri" panose="020F0502020204030204" pitchFamily="34" charset="0"/>
                        </a:rPr>
                        <a:t>--</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8768930"/>
                  </a:ext>
                </a:extLst>
              </a:tr>
              <a:tr h="270513">
                <a:tc>
                  <a:txBody>
                    <a:bodyPr/>
                    <a:lstStyle/>
                    <a:p>
                      <a:pPr algn="ctr" fontAlgn="ctr">
                        <a:buNone/>
                      </a:pPr>
                      <a:r>
                        <a:rPr lang="en-US" sz="1400" b="1" i="0">
                          <a:solidFill>
                            <a:srgbClr val="000000"/>
                          </a:solidFill>
                          <a:effectLst/>
                          <a:latin typeface="Calibri" panose="020F0502020204030204" pitchFamily="34" charset="0"/>
                        </a:rPr>
                        <a:t>9</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a:solidFill>
                            <a:srgbClr val="000000"/>
                          </a:solidFill>
                          <a:effectLst/>
                          <a:latin typeface="Calibri" panose="020F0502020204030204" pitchFamily="34" charset="0"/>
                        </a:rPr>
                        <a:t>10/24</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0" i="0">
                          <a:solidFill>
                            <a:srgbClr val="000000"/>
                          </a:solidFill>
                          <a:effectLst/>
                          <a:latin typeface="Calibri" panose="020F0502020204030204" pitchFamily="34" charset="0"/>
                        </a:rPr>
                        <a:t>Project Workday</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ctr">
                        <a:buNone/>
                      </a:pPr>
                      <a:r>
                        <a:rPr lang="en-US" sz="1400" b="0" i="0">
                          <a:solidFill>
                            <a:srgbClr val="000000"/>
                          </a:solidFill>
                          <a:effectLst/>
                          <a:latin typeface="Calibri" panose="020F0502020204030204" pitchFamily="34" charset="0"/>
                        </a:rPr>
                        <a:t>Progress Update 3 + Draft of Final Report</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61820945"/>
                  </a:ext>
                </a:extLst>
              </a:tr>
              <a:tr h="151048">
                <a:tc>
                  <a:txBody>
                    <a:bodyPr/>
                    <a:lstStyle/>
                    <a:p>
                      <a:pPr algn="ctr" fontAlgn="ctr">
                        <a:buNone/>
                      </a:pPr>
                      <a:r>
                        <a:rPr lang="en-US" sz="1400" b="1" i="0">
                          <a:solidFill>
                            <a:srgbClr val="000000"/>
                          </a:solidFill>
                          <a:effectLst/>
                          <a:latin typeface="Calibri" panose="020F0502020204030204" pitchFamily="34" charset="0"/>
                        </a:rPr>
                        <a:t>10</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a:solidFill>
                            <a:srgbClr val="000000"/>
                          </a:solidFill>
                          <a:effectLst/>
                          <a:latin typeface="Calibri" panose="020F0502020204030204" pitchFamily="34" charset="0"/>
                        </a:rPr>
                        <a:t>10/31</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0" i="0" dirty="0">
                          <a:solidFill>
                            <a:srgbClr val="000000"/>
                          </a:solidFill>
                          <a:effectLst/>
                          <a:latin typeface="Calibri" panose="020F0502020204030204" pitchFamily="34" charset="0"/>
                        </a:rPr>
                        <a:t>Peer Mentoring Day 5</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fontAlgn="ctr">
                        <a:buNone/>
                      </a:pPr>
                      <a:r>
                        <a:rPr lang="en-US" sz="1400" b="0" i="0">
                          <a:solidFill>
                            <a:srgbClr val="000000"/>
                          </a:solidFill>
                          <a:effectLst/>
                          <a:latin typeface="Calibri" panose="020F0502020204030204" pitchFamily="34" charset="0"/>
                        </a:rPr>
                        <a:t> </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2803447"/>
                  </a:ext>
                </a:extLst>
              </a:tr>
              <a:tr h="151048">
                <a:tc>
                  <a:txBody>
                    <a:bodyPr/>
                    <a:lstStyle/>
                    <a:p>
                      <a:pPr algn="ctr" fontAlgn="ctr">
                        <a:buNone/>
                      </a:pPr>
                      <a:r>
                        <a:rPr lang="en-US" sz="1400" b="1" i="0">
                          <a:solidFill>
                            <a:srgbClr val="000000"/>
                          </a:solidFill>
                          <a:effectLst/>
                          <a:latin typeface="Calibri" panose="020F0502020204030204" pitchFamily="34" charset="0"/>
                        </a:rPr>
                        <a:t>11</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a:solidFill>
                            <a:srgbClr val="000000"/>
                          </a:solidFill>
                          <a:effectLst/>
                          <a:latin typeface="Calibri" panose="020F0502020204030204" pitchFamily="34" charset="0"/>
                        </a:rPr>
                        <a:t>11/7</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0" i="0">
                          <a:solidFill>
                            <a:srgbClr val="000000"/>
                          </a:solidFill>
                          <a:effectLst/>
                          <a:latin typeface="Calibri" panose="020F0502020204030204" pitchFamily="34" charset="0"/>
                        </a:rPr>
                        <a:t>Project Workday</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ctr">
                        <a:buNone/>
                      </a:pPr>
                      <a:r>
                        <a:rPr lang="en-US" sz="1400" b="0" i="0">
                          <a:solidFill>
                            <a:srgbClr val="000000"/>
                          </a:solidFill>
                          <a:effectLst/>
                          <a:latin typeface="Calibri" panose="020F0502020204030204" pitchFamily="34" charset="0"/>
                        </a:rPr>
                        <a:t>Progress Update 4</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8909321"/>
                  </a:ext>
                </a:extLst>
              </a:tr>
              <a:tr h="151048">
                <a:tc>
                  <a:txBody>
                    <a:bodyPr/>
                    <a:lstStyle/>
                    <a:p>
                      <a:pPr algn="ctr" fontAlgn="ctr">
                        <a:buNone/>
                      </a:pPr>
                      <a:r>
                        <a:rPr lang="en-US" sz="1400" b="1" i="0">
                          <a:solidFill>
                            <a:srgbClr val="000000"/>
                          </a:solidFill>
                          <a:effectLst/>
                          <a:latin typeface="Calibri" panose="020F0502020204030204" pitchFamily="34" charset="0"/>
                        </a:rPr>
                        <a:t>12</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a:solidFill>
                            <a:srgbClr val="000000"/>
                          </a:solidFill>
                          <a:effectLst/>
                          <a:latin typeface="Calibri" panose="020F0502020204030204" pitchFamily="34" charset="0"/>
                        </a:rPr>
                        <a:t>11/14</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0" i="0">
                          <a:solidFill>
                            <a:srgbClr val="000000"/>
                          </a:solidFill>
                          <a:effectLst/>
                          <a:latin typeface="Calibri" panose="020F0502020204030204" pitchFamily="34" charset="0"/>
                        </a:rPr>
                        <a:t>Project Workday</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ctr">
                        <a:buNone/>
                      </a:pPr>
                      <a:r>
                        <a:rPr lang="en-US" sz="1400" b="0" i="0">
                          <a:solidFill>
                            <a:srgbClr val="000000"/>
                          </a:solidFill>
                          <a:effectLst/>
                          <a:latin typeface="Calibri" panose="020F0502020204030204" pitchFamily="34" charset="0"/>
                        </a:rPr>
                        <a:t>Project Update 5</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73387168"/>
                  </a:ext>
                </a:extLst>
              </a:tr>
              <a:tr h="270513">
                <a:tc>
                  <a:txBody>
                    <a:bodyPr/>
                    <a:lstStyle/>
                    <a:p>
                      <a:pPr algn="ctr" fontAlgn="ctr">
                        <a:buNone/>
                      </a:pPr>
                      <a:endParaRPr lang="en-US" sz="1400" b="1" i="0" dirty="0">
                        <a:solidFill>
                          <a:srgbClr val="000000"/>
                        </a:solidFill>
                        <a:effectLst/>
                        <a:latin typeface="Calibri" panose="020F0502020204030204" pitchFamily="34" charset="0"/>
                      </a:endParaRP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00"/>
                    </a:solidFill>
                  </a:tcPr>
                </a:tc>
                <a:tc>
                  <a:txBody>
                    <a:bodyPr/>
                    <a:lstStyle/>
                    <a:p>
                      <a:pPr algn="ctr" fontAlgn="ctr">
                        <a:buNone/>
                      </a:pPr>
                      <a:r>
                        <a:rPr lang="en-US" sz="1200" b="0" i="0" dirty="0">
                          <a:solidFill>
                            <a:srgbClr val="000000"/>
                          </a:solidFill>
                          <a:effectLst/>
                          <a:latin typeface="Calibri" panose="020F0502020204030204" pitchFamily="34" charset="0"/>
                        </a:rPr>
                        <a:t>11/18</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00"/>
                    </a:solidFill>
                  </a:tcPr>
                </a:tc>
                <a:tc>
                  <a:txBody>
                    <a:bodyPr/>
                    <a:lstStyle/>
                    <a:p>
                      <a:pPr algn="l" fontAlgn="ctr">
                        <a:buNone/>
                      </a:pPr>
                      <a:r>
                        <a:rPr lang="en-US" sz="1400" b="0" i="0" dirty="0">
                          <a:solidFill>
                            <a:srgbClr val="000000"/>
                          </a:solidFill>
                          <a:effectLst/>
                          <a:latin typeface="Calibri" panose="020F0502020204030204" pitchFamily="34" charset="0"/>
                        </a:rPr>
                        <a:t>Fall Undergraduate Research Expo</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00"/>
                    </a:solidFill>
                  </a:tcPr>
                </a:tc>
                <a:tc>
                  <a:txBody>
                    <a:bodyPr/>
                    <a:lstStyle/>
                    <a:p>
                      <a:pPr fontAlgn="ctr">
                        <a:buNone/>
                      </a:pPr>
                      <a:r>
                        <a:rPr lang="en-US" sz="1400" b="0" i="0" dirty="0">
                          <a:solidFill>
                            <a:srgbClr val="000000"/>
                          </a:solidFill>
                          <a:effectLst/>
                          <a:latin typeface="Calibri" panose="020F0502020204030204" pitchFamily="34" charset="0"/>
                        </a:rPr>
                        <a:t>Possible opportunity to showcase work</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00"/>
                    </a:solidFill>
                  </a:tcPr>
                </a:tc>
                <a:extLst>
                  <a:ext uri="{0D108BD9-81ED-4DB2-BD59-A6C34878D82A}">
                    <a16:rowId xmlns:a16="http://schemas.microsoft.com/office/drawing/2014/main" val="3594384865"/>
                  </a:ext>
                </a:extLst>
              </a:tr>
              <a:tr h="151048">
                <a:tc>
                  <a:txBody>
                    <a:bodyPr/>
                    <a:lstStyle/>
                    <a:p>
                      <a:pPr algn="ctr" fontAlgn="ctr">
                        <a:buNone/>
                      </a:pPr>
                      <a:r>
                        <a:rPr lang="en-US" sz="1400" b="1" i="0">
                          <a:solidFill>
                            <a:srgbClr val="000000"/>
                          </a:solidFill>
                          <a:effectLst/>
                          <a:latin typeface="Calibri" panose="020F0502020204030204" pitchFamily="34" charset="0"/>
                        </a:rPr>
                        <a:t>13</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a:solidFill>
                            <a:srgbClr val="000000"/>
                          </a:solidFill>
                          <a:effectLst/>
                          <a:latin typeface="Calibri" panose="020F0502020204030204" pitchFamily="34" charset="0"/>
                        </a:rPr>
                        <a:t>11/21</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0" i="0" dirty="0">
                          <a:solidFill>
                            <a:srgbClr val="000000"/>
                          </a:solidFill>
                          <a:effectLst/>
                          <a:latin typeface="Calibri" panose="020F0502020204030204" pitchFamily="34" charset="0"/>
                        </a:rPr>
                        <a:t>Peer Mentoring Day 6</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fontAlgn="ctr">
                        <a:buNone/>
                      </a:pPr>
                      <a:r>
                        <a:rPr lang="en-US" sz="1400" b="0" i="0">
                          <a:solidFill>
                            <a:srgbClr val="000000"/>
                          </a:solidFill>
                          <a:effectLst/>
                          <a:latin typeface="Calibri" panose="020F0502020204030204" pitchFamily="34" charset="0"/>
                        </a:rPr>
                        <a:t>Draft of Final Report</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88432451"/>
                  </a:ext>
                </a:extLst>
              </a:tr>
              <a:tr h="151048">
                <a:tc>
                  <a:txBody>
                    <a:bodyPr/>
                    <a:lstStyle/>
                    <a:p>
                      <a:pPr algn="ctr" fontAlgn="ctr">
                        <a:buNone/>
                      </a:pPr>
                      <a:r>
                        <a:rPr lang="en-US" sz="1400" b="1" i="0">
                          <a:solidFill>
                            <a:srgbClr val="000000"/>
                          </a:solidFill>
                          <a:effectLst/>
                          <a:latin typeface="Calibri" panose="020F0502020204030204" pitchFamily="34" charset="0"/>
                        </a:rPr>
                        <a:t>14</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6A6A6"/>
                    </a:solidFill>
                  </a:tcPr>
                </a:tc>
                <a:tc>
                  <a:txBody>
                    <a:bodyPr/>
                    <a:lstStyle/>
                    <a:p>
                      <a:pPr algn="ctr" fontAlgn="ctr">
                        <a:buNone/>
                      </a:pPr>
                      <a:r>
                        <a:rPr lang="en-US" sz="1200" b="0" i="0">
                          <a:solidFill>
                            <a:srgbClr val="000000"/>
                          </a:solidFill>
                          <a:effectLst/>
                          <a:latin typeface="Calibri" panose="020F0502020204030204" pitchFamily="34" charset="0"/>
                        </a:rPr>
                        <a:t>11/28</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6A6A6"/>
                    </a:solidFill>
                  </a:tcPr>
                </a:tc>
                <a:tc>
                  <a:txBody>
                    <a:bodyPr/>
                    <a:lstStyle/>
                    <a:p>
                      <a:pPr algn="l" fontAlgn="ctr">
                        <a:buNone/>
                      </a:pPr>
                      <a:r>
                        <a:rPr lang="en-US" sz="1400" b="0" i="0">
                          <a:solidFill>
                            <a:srgbClr val="000000"/>
                          </a:solidFill>
                          <a:effectLst/>
                          <a:latin typeface="Calibri" panose="020F0502020204030204" pitchFamily="34" charset="0"/>
                        </a:rPr>
                        <a:t>Thanksgiving</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6A6A6"/>
                    </a:solidFill>
                  </a:tcPr>
                </a:tc>
                <a:tc>
                  <a:txBody>
                    <a:bodyPr/>
                    <a:lstStyle/>
                    <a:p>
                      <a:pPr fontAlgn="ctr">
                        <a:buNone/>
                      </a:pPr>
                      <a:r>
                        <a:rPr lang="en-US" sz="1400" b="0" i="0">
                          <a:solidFill>
                            <a:srgbClr val="000000"/>
                          </a:solidFill>
                          <a:effectLst/>
                          <a:latin typeface="Calibri" panose="020F0502020204030204" pitchFamily="34" charset="0"/>
                        </a:rPr>
                        <a:t>No Class</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6A6A6"/>
                    </a:solidFill>
                  </a:tcPr>
                </a:tc>
                <a:extLst>
                  <a:ext uri="{0D108BD9-81ED-4DB2-BD59-A6C34878D82A}">
                    <a16:rowId xmlns:a16="http://schemas.microsoft.com/office/drawing/2014/main" val="931480935"/>
                  </a:ext>
                </a:extLst>
              </a:tr>
              <a:tr h="151048">
                <a:tc>
                  <a:txBody>
                    <a:bodyPr/>
                    <a:lstStyle/>
                    <a:p>
                      <a:pPr algn="ctr" fontAlgn="ctr">
                        <a:buNone/>
                      </a:pPr>
                      <a:r>
                        <a:rPr lang="en-US" sz="1400" b="1" i="0">
                          <a:solidFill>
                            <a:srgbClr val="000000"/>
                          </a:solidFill>
                          <a:effectLst/>
                          <a:latin typeface="Calibri" panose="020F0502020204030204" pitchFamily="34" charset="0"/>
                        </a:rPr>
                        <a:t>15</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a:solidFill>
                            <a:srgbClr val="000000"/>
                          </a:solidFill>
                          <a:effectLst/>
                          <a:latin typeface="Calibri" panose="020F0502020204030204" pitchFamily="34" charset="0"/>
                        </a:rPr>
                        <a:t>12/5</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0" i="0">
                          <a:solidFill>
                            <a:srgbClr val="000000"/>
                          </a:solidFill>
                          <a:effectLst/>
                          <a:latin typeface="Calibri" panose="020F0502020204030204" pitchFamily="34" charset="0"/>
                        </a:rPr>
                        <a:t>In-class demo/presentation</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ctr">
                        <a:buNone/>
                      </a:pPr>
                      <a:r>
                        <a:rPr lang="en-US" sz="1400" b="0" i="0">
                          <a:solidFill>
                            <a:srgbClr val="000000"/>
                          </a:solidFill>
                          <a:effectLst/>
                          <a:latin typeface="Calibri" panose="020F0502020204030204" pitchFamily="34" charset="0"/>
                        </a:rPr>
                        <a:t>M3: Final Presentation</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72897878"/>
                  </a:ext>
                </a:extLst>
              </a:tr>
              <a:tr h="151048">
                <a:tc>
                  <a:txBody>
                    <a:bodyPr/>
                    <a:lstStyle/>
                    <a:p>
                      <a:pPr algn="ctr" fontAlgn="ctr">
                        <a:buNone/>
                      </a:pPr>
                      <a:r>
                        <a:rPr lang="en-US" sz="1400" b="1" i="0">
                          <a:solidFill>
                            <a:srgbClr val="000000"/>
                          </a:solidFill>
                          <a:effectLst/>
                          <a:latin typeface="Calibri" panose="020F0502020204030204" pitchFamily="34" charset="0"/>
                        </a:rPr>
                        <a:t>16</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0" i="0">
                          <a:solidFill>
                            <a:srgbClr val="000000"/>
                          </a:solidFill>
                          <a:effectLst/>
                          <a:latin typeface="Calibri" panose="020F0502020204030204" pitchFamily="34" charset="0"/>
                        </a:rPr>
                        <a:t>12/12</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400" b="0" i="0">
                          <a:solidFill>
                            <a:srgbClr val="000000"/>
                          </a:solidFill>
                          <a:effectLst/>
                          <a:latin typeface="Calibri" panose="020F0502020204030204" pitchFamily="34" charset="0"/>
                        </a:rPr>
                        <a:t>Adjournment</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ctr">
                        <a:buNone/>
                      </a:pPr>
                      <a:r>
                        <a:rPr lang="en-US" sz="1400" b="0" i="0" dirty="0">
                          <a:solidFill>
                            <a:srgbClr val="000000"/>
                          </a:solidFill>
                          <a:effectLst/>
                          <a:latin typeface="Calibri" panose="020F0502020204030204" pitchFamily="34" charset="0"/>
                        </a:rPr>
                        <a:t>M3: Final Presentations if needed</a:t>
                      </a:r>
                    </a:p>
                  </a:txBody>
                  <a:tcPr marL="6866" marR="6866" marT="686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97089772"/>
                  </a:ext>
                </a:extLst>
              </a:tr>
            </a:tbl>
          </a:graphicData>
        </a:graphic>
      </p:graphicFrame>
    </p:spTree>
    <p:extLst>
      <p:ext uri="{BB962C8B-B14F-4D97-AF65-F5344CB8AC3E}">
        <p14:creationId xmlns:p14="http://schemas.microsoft.com/office/powerpoint/2010/main" val="3014132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TotalTime>
  <Words>594</Words>
  <Application>Microsoft Office PowerPoint</Application>
  <PresentationFormat>Widescreen</PresentationFormat>
  <Paragraphs>117</Paragraphs>
  <Slides>7</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Arial</vt:lpstr>
      <vt:lpstr>Calibri</vt:lpstr>
      <vt:lpstr>Calibri Light</vt:lpstr>
      <vt:lpstr>Office Theme</vt:lpstr>
      <vt:lpstr>Digital to Physical: Machine Learning for Control System Simulations</vt:lpstr>
      <vt:lpstr>Slide 2: Project Goals</vt:lpstr>
      <vt:lpstr>Slide 3: Progress </vt:lpstr>
      <vt:lpstr>Slide 3: Progress </vt:lpstr>
      <vt:lpstr>Slide 4: Challenges/Issues</vt:lpstr>
      <vt:lpstr>Slide 5: Goals</vt:lpstr>
      <vt:lpstr>Presentation to be  turn in each project workday: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Progress Update Template</dc:title>
  <dc:creator>Joseph Alan Lyon</dc:creator>
  <cp:lastModifiedBy>Evan Douglas Moore</cp:lastModifiedBy>
  <cp:revision>6</cp:revision>
  <dcterms:created xsi:type="dcterms:W3CDTF">2022-09-15T16:51:27Z</dcterms:created>
  <dcterms:modified xsi:type="dcterms:W3CDTF">2026-09-25T18:49:48Z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044bd30-2ed7-4c9d-9d12-46200872a97b_Enabled">
    <vt:lpwstr>true</vt:lpwstr>
  </property>
  <property fmtid="{D5CDD505-2E9C-101B-9397-08002B2CF9AE}" pid="3" name="MSIP_Label_4044bd30-2ed7-4c9d-9d12-46200872a97b_SetDate">
    <vt:lpwstr>2024-09-05T12:07:42Z</vt:lpwstr>
  </property>
  <property fmtid="{D5CDD505-2E9C-101B-9397-08002B2CF9AE}" pid="4" name="MSIP_Label_4044bd30-2ed7-4c9d-9d12-46200872a97b_Method">
    <vt:lpwstr>Standard</vt:lpwstr>
  </property>
  <property fmtid="{D5CDD505-2E9C-101B-9397-08002B2CF9AE}" pid="5" name="MSIP_Label_4044bd30-2ed7-4c9d-9d12-46200872a97b_Name">
    <vt:lpwstr>defa4170-0d19-0005-0004-bc88714345d2</vt:lpwstr>
  </property>
  <property fmtid="{D5CDD505-2E9C-101B-9397-08002B2CF9AE}" pid="6" name="MSIP_Label_4044bd30-2ed7-4c9d-9d12-46200872a97b_SiteId">
    <vt:lpwstr>4130bd39-7c53-419c-b1e5-8758d6d63f21</vt:lpwstr>
  </property>
  <property fmtid="{D5CDD505-2E9C-101B-9397-08002B2CF9AE}" pid="7" name="MSIP_Label_4044bd30-2ed7-4c9d-9d12-46200872a97b_ActionId">
    <vt:lpwstr>3f945a9b-f7c1-4b18-819a-b69da1c92e80</vt:lpwstr>
  </property>
  <property fmtid="{D5CDD505-2E9C-101B-9397-08002B2CF9AE}" pid="8" name="MSIP_Label_4044bd30-2ed7-4c9d-9d12-46200872a97b_ContentBits">
    <vt:lpwstr>0</vt:lpwstr>
  </property>
</Properties>
</file>