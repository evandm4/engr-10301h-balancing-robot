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
  </p:notesMasterIdLst>
  <p:sldIdLst>
    <p:sldId id="258" r:id="rId3"/>
    <p:sldId id="259" r:id="rId4"/>
    <p:sldId id="261" r:id="rId5"/>
    <p:sldId id="256" r:id="rId6"/>
    <p:sldId id="265" r:id="rId7"/>
    <p:sldId id="262" r:id="rId8"/>
    <p:sldId id="263" r:id="rId9"/>
    <p:sldId id="266"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19" autoAdjust="0"/>
    <p:restoredTop sz="88863" autoAdjust="0"/>
  </p:normalViewPr>
  <p:slideViewPr>
    <p:cSldViewPr snapToGrid="0">
      <p:cViewPr varScale="1">
        <p:scale>
          <a:sx n="104" d="100"/>
          <a:sy n="104" d="100"/>
        </p:scale>
        <p:origin x="228"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van Douglas Moore" userId="a12eaece-4c20-480d-b1b1-526d10518dcb" providerId="ADAL" clId="{449FB238-0941-4E72-B832-A9F28685A9E0}"/>
    <pc:docChg chg="undo custSel addSld delSld modSld">
      <pc:chgData name="Evan Douglas Moore" userId="a12eaece-4c20-480d-b1b1-526d10518dcb" providerId="ADAL" clId="{449FB238-0941-4E72-B832-A9F28685A9E0}" dt="2026-10-23T16:41:51.852" v="2706" actId="20577"/>
      <pc:docMkLst>
        <pc:docMk/>
      </pc:docMkLst>
      <pc:sldChg chg="modSp add mod">
        <pc:chgData name="Evan Douglas Moore" userId="a12eaece-4c20-480d-b1b1-526d10518dcb" providerId="ADAL" clId="{449FB238-0941-4E72-B832-A9F28685A9E0}" dt="2026-10-02T03:23:02.678" v="2690" actId="113"/>
        <pc:sldMkLst>
          <pc:docMk/>
          <pc:sldMk cId="0" sldId="256"/>
        </pc:sldMkLst>
        <pc:spChg chg="mod">
          <ac:chgData name="Evan Douglas Moore" userId="a12eaece-4c20-480d-b1b1-526d10518dcb" providerId="ADAL" clId="{449FB238-0941-4E72-B832-A9F28685A9E0}" dt="2026-10-02T03:23:02.678" v="2690" actId="113"/>
          <ac:spMkLst>
            <pc:docMk/>
            <pc:sldMk cId="0" sldId="256"/>
            <ac:spMk id="2" creationId="{00000000-0000-0000-0000-000000000000}"/>
          </ac:spMkLst>
        </pc:spChg>
        <pc:spChg chg="mod">
          <ac:chgData name="Evan Douglas Moore" userId="a12eaece-4c20-480d-b1b1-526d10518dcb" providerId="ADAL" clId="{449FB238-0941-4E72-B832-A9F28685A9E0}" dt="2026-09-30T23:37:09.984" v="1970" actId="20577"/>
          <ac:spMkLst>
            <pc:docMk/>
            <pc:sldMk cId="0" sldId="256"/>
            <ac:spMk id="3" creationId="{00000000-0000-0000-0000-000000000000}"/>
          </ac:spMkLst>
        </pc:spChg>
        <pc:spChg chg="mod">
          <ac:chgData name="Evan Douglas Moore" userId="a12eaece-4c20-480d-b1b1-526d10518dcb" providerId="ADAL" clId="{449FB238-0941-4E72-B832-A9F28685A9E0}" dt="2026-09-30T22:09:39.442" v="1527" actId="20577"/>
          <ac:spMkLst>
            <pc:docMk/>
            <pc:sldMk cId="0" sldId="256"/>
            <ac:spMk id="6" creationId="{00000000-0000-0000-0000-000000000000}"/>
          </ac:spMkLst>
        </pc:spChg>
      </pc:sldChg>
      <pc:sldChg chg="modSp mod">
        <pc:chgData name="Evan Douglas Moore" userId="a12eaece-4c20-480d-b1b1-526d10518dcb" providerId="ADAL" clId="{449FB238-0941-4E72-B832-A9F28685A9E0}" dt="2026-10-02T03:05:42.498" v="2571" actId="20577"/>
        <pc:sldMkLst>
          <pc:docMk/>
          <pc:sldMk cId="2498848451" sldId="258"/>
        </pc:sldMkLst>
        <pc:spChg chg="mod">
          <ac:chgData name="Evan Douglas Moore" userId="a12eaece-4c20-480d-b1b1-526d10518dcb" providerId="ADAL" clId="{449FB238-0941-4E72-B832-A9F28685A9E0}" dt="2026-10-02T03:05:42.498" v="2571" actId="20577"/>
          <ac:spMkLst>
            <pc:docMk/>
            <pc:sldMk cId="2498848451" sldId="258"/>
            <ac:spMk id="3" creationId="{A80C50CE-3D5A-46BD-90B8-E0E3D2BDE7C8}"/>
          </ac:spMkLst>
        </pc:spChg>
      </pc:sldChg>
      <pc:sldChg chg="addSp delSp modSp mod setBg">
        <pc:chgData name="Evan Douglas Moore" userId="a12eaece-4c20-480d-b1b1-526d10518dcb" providerId="ADAL" clId="{449FB238-0941-4E72-B832-A9F28685A9E0}" dt="2026-10-23T16:40:49.605" v="2705" actId="1076"/>
        <pc:sldMkLst>
          <pc:docMk/>
          <pc:sldMk cId="3348751462" sldId="259"/>
        </pc:sldMkLst>
        <pc:spChg chg="mod">
          <ac:chgData name="Evan Douglas Moore" userId="a12eaece-4c20-480d-b1b1-526d10518dcb" providerId="ADAL" clId="{449FB238-0941-4E72-B832-A9F28685A9E0}" dt="2026-10-02T03:23:11.434" v="2692" actId="113"/>
          <ac:spMkLst>
            <pc:docMk/>
            <pc:sldMk cId="3348751462" sldId="259"/>
            <ac:spMk id="2" creationId="{BD1A3987-3810-4C7B-9BE1-C5492E2FF51A}"/>
          </ac:spMkLst>
        </pc:spChg>
        <pc:picChg chg="add mod">
          <ac:chgData name="Evan Douglas Moore" userId="a12eaece-4c20-480d-b1b1-526d10518dcb" providerId="ADAL" clId="{449FB238-0941-4E72-B832-A9F28685A9E0}" dt="2026-10-23T16:40:49.605" v="2705" actId="1076"/>
          <ac:picMkLst>
            <pc:docMk/>
            <pc:sldMk cId="3348751462" sldId="259"/>
            <ac:picMk id="4" creationId="{9D7C14FD-19AA-7EF9-4EAF-BD6CD93FE2BF}"/>
          </ac:picMkLst>
        </pc:picChg>
        <pc:picChg chg="add del mod">
          <ac:chgData name="Evan Douglas Moore" userId="a12eaece-4c20-480d-b1b1-526d10518dcb" providerId="ADAL" clId="{449FB238-0941-4E72-B832-A9F28685A9E0}" dt="2026-10-23T16:40:30.207" v="2701" actId="478"/>
          <ac:picMkLst>
            <pc:docMk/>
            <pc:sldMk cId="3348751462" sldId="259"/>
            <ac:picMk id="7" creationId="{BA747FE8-D7DB-EB47-F213-63B6045FAD45}"/>
          </ac:picMkLst>
        </pc:picChg>
      </pc:sldChg>
      <pc:sldChg chg="modSp mod">
        <pc:chgData name="Evan Douglas Moore" userId="a12eaece-4c20-480d-b1b1-526d10518dcb" providerId="ADAL" clId="{449FB238-0941-4E72-B832-A9F28685A9E0}" dt="2026-10-23T16:41:51.852" v="2706" actId="20577"/>
        <pc:sldMkLst>
          <pc:docMk/>
          <pc:sldMk cId="1865445137" sldId="261"/>
        </pc:sldMkLst>
        <pc:spChg chg="mod">
          <ac:chgData name="Evan Douglas Moore" userId="a12eaece-4c20-480d-b1b1-526d10518dcb" providerId="ADAL" clId="{449FB238-0941-4E72-B832-A9F28685A9E0}" dt="2026-10-02T03:23:06.973" v="2691" actId="113"/>
          <ac:spMkLst>
            <pc:docMk/>
            <pc:sldMk cId="1865445137" sldId="261"/>
            <ac:spMk id="2" creationId="{A1D0570B-8644-447E-B091-63C9EB4AA205}"/>
          </ac:spMkLst>
        </pc:spChg>
        <pc:spChg chg="mod">
          <ac:chgData name="Evan Douglas Moore" userId="a12eaece-4c20-480d-b1b1-526d10518dcb" providerId="ADAL" clId="{449FB238-0941-4E72-B832-A9F28685A9E0}" dt="2026-10-23T16:41:51.852" v="2706" actId="20577"/>
          <ac:spMkLst>
            <pc:docMk/>
            <pc:sldMk cId="1865445137" sldId="261"/>
            <ac:spMk id="3" creationId="{F4B1BE7A-2352-4B3C-BF51-380A64744009}"/>
          </ac:spMkLst>
        </pc:spChg>
      </pc:sldChg>
      <pc:sldChg chg="modSp mod">
        <pc:chgData name="Evan Douglas Moore" userId="a12eaece-4c20-480d-b1b1-526d10518dcb" providerId="ADAL" clId="{449FB238-0941-4E72-B832-A9F28685A9E0}" dt="2026-10-02T03:23:21.118" v="2693" actId="113"/>
        <pc:sldMkLst>
          <pc:docMk/>
          <pc:sldMk cId="3450686343" sldId="262"/>
        </pc:sldMkLst>
        <pc:spChg chg="mod">
          <ac:chgData name="Evan Douglas Moore" userId="a12eaece-4c20-480d-b1b1-526d10518dcb" providerId="ADAL" clId="{449FB238-0941-4E72-B832-A9F28685A9E0}" dt="2026-10-02T03:23:21.118" v="2693" actId="113"/>
          <ac:spMkLst>
            <pc:docMk/>
            <pc:sldMk cId="3450686343" sldId="262"/>
            <ac:spMk id="2" creationId="{A2F7F5FE-E8CB-4B33-8B5A-5404CA19573B}"/>
          </ac:spMkLst>
        </pc:spChg>
        <pc:spChg chg="mod">
          <ac:chgData name="Evan Douglas Moore" userId="a12eaece-4c20-480d-b1b1-526d10518dcb" providerId="ADAL" clId="{449FB238-0941-4E72-B832-A9F28685A9E0}" dt="2026-10-01T00:01:09.143" v="2567" actId="20577"/>
          <ac:spMkLst>
            <pc:docMk/>
            <pc:sldMk cId="3450686343" sldId="262"/>
            <ac:spMk id="3" creationId="{5053997A-1AC2-4CA9-B781-1EBE596CC885}"/>
          </ac:spMkLst>
        </pc:spChg>
      </pc:sldChg>
      <pc:sldChg chg="modSp mod">
        <pc:chgData name="Evan Douglas Moore" userId="a12eaece-4c20-480d-b1b1-526d10518dcb" providerId="ADAL" clId="{449FB238-0941-4E72-B832-A9F28685A9E0}" dt="2026-10-02T03:23:26.108" v="2694" actId="113"/>
        <pc:sldMkLst>
          <pc:docMk/>
          <pc:sldMk cId="4024000917" sldId="263"/>
        </pc:sldMkLst>
        <pc:spChg chg="mod">
          <ac:chgData name="Evan Douglas Moore" userId="a12eaece-4c20-480d-b1b1-526d10518dcb" providerId="ADAL" clId="{449FB238-0941-4E72-B832-A9F28685A9E0}" dt="2026-10-02T03:23:26.108" v="2694" actId="113"/>
          <ac:spMkLst>
            <pc:docMk/>
            <pc:sldMk cId="4024000917" sldId="263"/>
            <ac:spMk id="2" creationId="{D16BE632-4DC7-4B06-B924-E72FEC130C87}"/>
          </ac:spMkLst>
        </pc:spChg>
        <pc:spChg chg="mod">
          <ac:chgData name="Evan Douglas Moore" userId="a12eaece-4c20-480d-b1b1-526d10518dcb" providerId="ADAL" clId="{449FB238-0941-4E72-B832-A9F28685A9E0}" dt="2026-10-02T03:17:52.593" v="2687" actId="20577"/>
          <ac:spMkLst>
            <pc:docMk/>
            <pc:sldMk cId="4024000917" sldId="263"/>
            <ac:spMk id="3" creationId="{5B92FFE8-4C91-4BC2-9456-FAD72D2B2EB4}"/>
          </ac:spMkLst>
        </pc:spChg>
      </pc:sldChg>
      <pc:sldChg chg="modSp mod">
        <pc:chgData name="Evan Douglas Moore" userId="a12eaece-4c20-480d-b1b1-526d10518dcb" providerId="ADAL" clId="{449FB238-0941-4E72-B832-A9F28685A9E0}" dt="2026-10-02T03:23:34.462" v="2696" actId="113"/>
        <pc:sldMkLst>
          <pc:docMk/>
          <pc:sldMk cId="301413225" sldId="264"/>
        </pc:sldMkLst>
        <pc:spChg chg="mod">
          <ac:chgData name="Evan Douglas Moore" userId="a12eaece-4c20-480d-b1b1-526d10518dcb" providerId="ADAL" clId="{449FB238-0941-4E72-B832-A9F28685A9E0}" dt="2026-10-02T03:23:34.462" v="2696" actId="113"/>
          <ac:spMkLst>
            <pc:docMk/>
            <pc:sldMk cId="301413225" sldId="264"/>
            <ac:spMk id="2" creationId="{27E59F67-578D-4602-9569-7FCA0713D9B1}"/>
          </ac:spMkLst>
        </pc:spChg>
      </pc:sldChg>
      <pc:sldChg chg="addSp delSp modSp add mod modNotesTx">
        <pc:chgData name="Evan Douglas Moore" userId="a12eaece-4c20-480d-b1b1-526d10518dcb" providerId="ADAL" clId="{449FB238-0941-4E72-B832-A9F28685A9E0}" dt="2026-09-30T23:36:16.510" v="1882" actId="1076"/>
        <pc:sldMkLst>
          <pc:docMk/>
          <pc:sldMk cId="3637355698" sldId="265"/>
        </pc:sldMkLst>
        <pc:picChg chg="add mod">
          <ac:chgData name="Evan Douglas Moore" userId="a12eaece-4c20-480d-b1b1-526d10518dcb" providerId="ADAL" clId="{449FB238-0941-4E72-B832-A9F28685A9E0}" dt="2026-09-30T23:36:16.510" v="1882" actId="1076"/>
          <ac:picMkLst>
            <pc:docMk/>
            <pc:sldMk cId="3637355698" sldId="265"/>
            <ac:picMk id="10" creationId="{A184D779-FF4D-8718-64F8-33A53C33DFA2}"/>
          </ac:picMkLst>
        </pc:picChg>
      </pc:sldChg>
      <pc:sldChg chg="modSp add mod">
        <pc:chgData name="Evan Douglas Moore" userId="a12eaece-4c20-480d-b1b1-526d10518dcb" providerId="ADAL" clId="{449FB238-0941-4E72-B832-A9F28685A9E0}" dt="2026-10-02T03:23:29.930" v="2695" actId="113"/>
        <pc:sldMkLst>
          <pc:docMk/>
          <pc:sldMk cId="4080178339" sldId="266"/>
        </pc:sldMkLst>
        <pc:spChg chg="mod">
          <ac:chgData name="Evan Douglas Moore" userId="a12eaece-4c20-480d-b1b1-526d10518dcb" providerId="ADAL" clId="{449FB238-0941-4E72-B832-A9F28685A9E0}" dt="2026-10-02T03:23:29.930" v="2695" actId="113"/>
          <ac:spMkLst>
            <pc:docMk/>
            <pc:sldMk cId="4080178339" sldId="266"/>
            <ac:spMk id="2" creationId="{850D8196-DD11-5551-F256-51F37DC9F17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1B50F0-5143-43AF-8966-30D38E84A571}" type="datetimeFigureOut">
              <a:rPr lang="en-US" smtClean="0"/>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4D7B41-392A-43D5-8F08-6FCC0EB902DB}" type="slidenum">
              <a:rPr lang="en-US" smtClean="0"/>
              <a:t>‹#›</a:t>
            </a:fld>
            <a:endParaRPr lang="en-US"/>
          </a:p>
        </p:txBody>
      </p:sp>
    </p:spTree>
    <p:extLst>
      <p:ext uri="{BB962C8B-B14F-4D97-AF65-F5344CB8AC3E}">
        <p14:creationId xmlns:p14="http://schemas.microsoft.com/office/powerpoint/2010/main" val="2620574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first project work day (Week 3) you will provide background and context for your project.  In subsequent weeks you only need to provide that quick reminder of the Major goals (on sentence to remind the team of your Project.)</a:t>
            </a:r>
          </a:p>
          <a:p>
            <a:endParaRPr lang="en-US" dirty="0"/>
          </a:p>
          <a:p>
            <a:r>
              <a:rPr lang="en-US" dirty="0"/>
              <a:t>As you progress your goals, or scope may have changed.  Please share your thoughts.</a:t>
            </a:r>
          </a:p>
        </p:txBody>
      </p:sp>
      <p:sp>
        <p:nvSpPr>
          <p:cNvPr id="4" name="Slide Number Placeholder 3"/>
          <p:cNvSpPr>
            <a:spLocks noGrp="1"/>
          </p:cNvSpPr>
          <p:nvPr>
            <p:ph type="sldNum" sz="quarter" idx="5"/>
          </p:nvPr>
        </p:nvSpPr>
        <p:spPr/>
        <p:txBody>
          <a:bodyPr/>
          <a:lstStyle/>
          <a:p>
            <a:fld id="{2C4D7B41-392A-43D5-8F08-6FCC0EB902DB}" type="slidenum">
              <a:rPr lang="en-US" smtClean="0"/>
              <a:t>2</a:t>
            </a:fld>
            <a:endParaRPr lang="en-US"/>
          </a:p>
        </p:txBody>
      </p:sp>
    </p:spTree>
    <p:extLst>
      <p:ext uri="{BB962C8B-B14F-4D97-AF65-F5344CB8AC3E}">
        <p14:creationId xmlns:p14="http://schemas.microsoft.com/office/powerpoint/2010/main" val="35705438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project workday is only a week after the contract submission and may not have much progress which is fine.  </a:t>
            </a:r>
          </a:p>
          <a:p>
            <a:r>
              <a:rPr lang="en-US" dirty="0"/>
              <a:t>In later session you can work from you list of goals from prior workday and describe progress.</a:t>
            </a:r>
          </a:p>
        </p:txBody>
      </p:sp>
      <p:sp>
        <p:nvSpPr>
          <p:cNvPr id="4" name="Slide Number Placeholder 3"/>
          <p:cNvSpPr>
            <a:spLocks noGrp="1"/>
          </p:cNvSpPr>
          <p:nvPr>
            <p:ph type="sldNum" sz="quarter" idx="5"/>
          </p:nvPr>
        </p:nvSpPr>
        <p:spPr/>
        <p:txBody>
          <a:bodyPr/>
          <a:lstStyle/>
          <a:p>
            <a:fld id="{2C4D7B41-392A-43D5-8F08-6FCC0EB902DB}" type="slidenum">
              <a:rPr lang="en-US" smtClean="0"/>
              <a:t>3</a:t>
            </a:fld>
            <a:endParaRPr lang="en-US"/>
          </a:p>
        </p:txBody>
      </p:sp>
    </p:spTree>
    <p:extLst>
      <p:ext uri="{BB962C8B-B14F-4D97-AF65-F5344CB8AC3E}">
        <p14:creationId xmlns:p14="http://schemas.microsoft.com/office/powerpoint/2010/main" val="2534355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53195-45B2-D413-732E-32CB9727F4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3EEFF5-8E5D-A607-BE2E-59FAF2D430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63F21C-FCA4-7191-8032-5DDA1A677D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32EAA2-0434-DAA1-758E-88DE2F387870}"/>
              </a:ext>
            </a:extLst>
          </p:cNvPr>
          <p:cNvSpPr>
            <a:spLocks noGrp="1"/>
          </p:cNvSpPr>
          <p:nvPr>
            <p:ph type="sldNum" sz="quarter" idx="5"/>
          </p:nvPr>
        </p:nvSpPr>
        <p:spPr/>
        <p:txBody>
          <a:bodyPr/>
          <a:lstStyle/>
          <a:p>
            <a:fld id="{2C4D7B41-392A-43D5-8F08-6FCC0EB902DB}" type="slidenum">
              <a:rPr lang="en-US" smtClean="0"/>
              <a:t>5</a:t>
            </a:fld>
            <a:endParaRPr lang="en-US"/>
          </a:p>
        </p:txBody>
      </p:sp>
    </p:spTree>
    <p:extLst>
      <p:ext uri="{BB962C8B-B14F-4D97-AF65-F5344CB8AC3E}">
        <p14:creationId xmlns:p14="http://schemas.microsoft.com/office/powerpoint/2010/main" val="3831975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Identify any problems or issues you are facing.  This could be intellectual sticking points, difficulty finding information, getting materials, etc.  The team may have ideas to help you with these issues, or they are items that have change your short term priorities.</a:t>
            </a:r>
          </a:p>
        </p:txBody>
      </p:sp>
      <p:sp>
        <p:nvSpPr>
          <p:cNvPr id="4" name="Slide Number Placeholder 3"/>
          <p:cNvSpPr>
            <a:spLocks noGrp="1"/>
          </p:cNvSpPr>
          <p:nvPr>
            <p:ph type="sldNum" sz="quarter" idx="5"/>
          </p:nvPr>
        </p:nvSpPr>
        <p:spPr/>
        <p:txBody>
          <a:bodyPr/>
          <a:lstStyle/>
          <a:p>
            <a:fld id="{2C4D7B41-392A-43D5-8F08-6FCC0EB902DB}" type="slidenum">
              <a:rPr lang="en-US" smtClean="0"/>
              <a:t>6</a:t>
            </a:fld>
            <a:endParaRPr lang="en-US"/>
          </a:p>
        </p:txBody>
      </p:sp>
    </p:spTree>
    <p:extLst>
      <p:ext uri="{BB962C8B-B14F-4D97-AF65-F5344CB8AC3E}">
        <p14:creationId xmlns:p14="http://schemas.microsoft.com/office/powerpoint/2010/main" val="1696026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talk about project management in ENGR 130.  For the first session you can list out all the major action you need to accomplish to achieve your goals.  Think of these as the list of action items we discussed for team meetings.</a:t>
            </a:r>
          </a:p>
        </p:txBody>
      </p:sp>
      <p:sp>
        <p:nvSpPr>
          <p:cNvPr id="4" name="Slide Number Placeholder 3"/>
          <p:cNvSpPr>
            <a:spLocks noGrp="1"/>
          </p:cNvSpPr>
          <p:nvPr>
            <p:ph type="sldNum" sz="quarter" idx="5"/>
          </p:nvPr>
        </p:nvSpPr>
        <p:spPr/>
        <p:txBody>
          <a:bodyPr/>
          <a:lstStyle/>
          <a:p>
            <a:fld id="{2C4D7B41-392A-43D5-8F08-6FCC0EB902DB}" type="slidenum">
              <a:rPr lang="en-US" smtClean="0"/>
              <a:t>7</a:t>
            </a:fld>
            <a:endParaRPr lang="en-US"/>
          </a:p>
        </p:txBody>
      </p:sp>
    </p:spTree>
    <p:extLst>
      <p:ext uri="{BB962C8B-B14F-4D97-AF65-F5344CB8AC3E}">
        <p14:creationId xmlns:p14="http://schemas.microsoft.com/office/powerpoint/2010/main" val="625595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75C37-4F49-D89B-C466-AC9FC2E485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31F1C0-0A1D-E7A8-5BCC-9AC54BF17D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0A9980-71E5-CD0A-7EC5-9B9D01055A3D}"/>
              </a:ext>
            </a:extLst>
          </p:cNvPr>
          <p:cNvSpPr>
            <a:spLocks noGrp="1"/>
          </p:cNvSpPr>
          <p:nvPr>
            <p:ph type="body" idx="1"/>
          </p:nvPr>
        </p:nvSpPr>
        <p:spPr/>
        <p:txBody>
          <a:bodyPr/>
          <a:lstStyle/>
          <a:p>
            <a:r>
              <a:rPr lang="en-US" dirty="0"/>
              <a:t>We will talk about project management in ENGR 130.  For the first session you can list out all the major action you need to accomplish to achieve your goals.  Think of these as the list of action items we discussed for team meetings.</a:t>
            </a:r>
          </a:p>
        </p:txBody>
      </p:sp>
      <p:sp>
        <p:nvSpPr>
          <p:cNvPr id="4" name="Slide Number Placeholder 3">
            <a:extLst>
              <a:ext uri="{FF2B5EF4-FFF2-40B4-BE49-F238E27FC236}">
                <a16:creationId xmlns:a16="http://schemas.microsoft.com/office/drawing/2014/main" id="{792BD5F4-3FBB-D529-DA73-72B48FAE195B}"/>
              </a:ext>
            </a:extLst>
          </p:cNvPr>
          <p:cNvSpPr>
            <a:spLocks noGrp="1"/>
          </p:cNvSpPr>
          <p:nvPr>
            <p:ph type="sldNum" sz="quarter" idx="5"/>
          </p:nvPr>
        </p:nvSpPr>
        <p:spPr/>
        <p:txBody>
          <a:bodyPr/>
          <a:lstStyle/>
          <a:p>
            <a:fld id="{2C4D7B41-392A-43D5-8F08-6FCC0EB902DB}" type="slidenum">
              <a:rPr lang="en-US" smtClean="0"/>
              <a:t>8</a:t>
            </a:fld>
            <a:endParaRPr lang="en-US"/>
          </a:p>
        </p:txBody>
      </p:sp>
    </p:spTree>
    <p:extLst>
      <p:ext uri="{BB962C8B-B14F-4D97-AF65-F5344CB8AC3E}">
        <p14:creationId xmlns:p14="http://schemas.microsoft.com/office/powerpoint/2010/main" val="3719553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14DC9-2D67-40A5-8A5B-059B18B16E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8CD758-1785-4535-B67C-F2FC21978C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1E15D2-2D76-4A54-B26A-1361E6E30D88}"/>
              </a:ext>
            </a:extLst>
          </p:cNvPr>
          <p:cNvSpPr>
            <a:spLocks noGrp="1"/>
          </p:cNvSpPr>
          <p:nvPr>
            <p:ph type="dt" sz="half" idx="10"/>
          </p:nvPr>
        </p:nvSpPr>
        <p:spPr/>
        <p:txBody>
          <a:bodyPr/>
          <a:lstStyle/>
          <a:p>
            <a:fld id="{90BDCE29-86A1-42B3-8F1A-FB966B7FADD4}" type="datetimeFigureOut">
              <a:rPr lang="en-US" smtClean="0"/>
              <a:t>10/23/2026</a:t>
            </a:fld>
            <a:endParaRPr lang="en-US"/>
          </a:p>
        </p:txBody>
      </p:sp>
      <p:sp>
        <p:nvSpPr>
          <p:cNvPr id="5" name="Footer Placeholder 4">
            <a:extLst>
              <a:ext uri="{FF2B5EF4-FFF2-40B4-BE49-F238E27FC236}">
                <a16:creationId xmlns:a16="http://schemas.microsoft.com/office/drawing/2014/main" id="{832DF05B-610A-4D8F-B0B5-7C9A3AC6C1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727A62-93FF-4FF8-89D2-E9F2C90582A8}"/>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1231056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B13CA-9DE6-4680-9C1D-DDE9BA78EC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4DC988-D0F1-43C2-B253-477BC63512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B4BB60-7E24-4472-9213-55399A6B0A95}"/>
              </a:ext>
            </a:extLst>
          </p:cNvPr>
          <p:cNvSpPr>
            <a:spLocks noGrp="1"/>
          </p:cNvSpPr>
          <p:nvPr>
            <p:ph type="dt" sz="half" idx="10"/>
          </p:nvPr>
        </p:nvSpPr>
        <p:spPr/>
        <p:txBody>
          <a:bodyPr/>
          <a:lstStyle/>
          <a:p>
            <a:fld id="{90BDCE29-86A1-42B3-8F1A-FB966B7FADD4}" type="datetimeFigureOut">
              <a:rPr lang="en-US" smtClean="0"/>
              <a:t>10/23/2026</a:t>
            </a:fld>
            <a:endParaRPr lang="en-US"/>
          </a:p>
        </p:txBody>
      </p:sp>
      <p:sp>
        <p:nvSpPr>
          <p:cNvPr id="5" name="Footer Placeholder 4">
            <a:extLst>
              <a:ext uri="{FF2B5EF4-FFF2-40B4-BE49-F238E27FC236}">
                <a16:creationId xmlns:a16="http://schemas.microsoft.com/office/drawing/2014/main" id="{E9DAF789-4D8F-4556-BF4E-18F427EC94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DF4893-84C6-4444-8640-33F6299DF92B}"/>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946396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18216-A10F-4306-82FB-4FE070E82B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1BF4CE-1FF8-4AA4-94BA-F54B85114C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12A8FC3-67F5-43BC-AD14-22B4FBE492DA}"/>
              </a:ext>
            </a:extLst>
          </p:cNvPr>
          <p:cNvSpPr>
            <a:spLocks noGrp="1"/>
          </p:cNvSpPr>
          <p:nvPr>
            <p:ph type="dt" sz="half" idx="10"/>
          </p:nvPr>
        </p:nvSpPr>
        <p:spPr/>
        <p:txBody>
          <a:bodyPr/>
          <a:lstStyle/>
          <a:p>
            <a:fld id="{90BDCE29-86A1-42B3-8F1A-FB966B7FADD4}" type="datetimeFigureOut">
              <a:rPr lang="en-US" smtClean="0"/>
              <a:t>10/23/2026</a:t>
            </a:fld>
            <a:endParaRPr lang="en-US"/>
          </a:p>
        </p:txBody>
      </p:sp>
      <p:sp>
        <p:nvSpPr>
          <p:cNvPr id="5" name="Footer Placeholder 4">
            <a:extLst>
              <a:ext uri="{FF2B5EF4-FFF2-40B4-BE49-F238E27FC236}">
                <a16:creationId xmlns:a16="http://schemas.microsoft.com/office/drawing/2014/main" id="{9E704CED-7F42-4A24-B581-9EF25C690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C01ED7-895E-43AC-80A9-A4395C24A6BE}"/>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1777523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6DE32-EDA3-47F8-976D-37853D7052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8E1D51-2D6E-4C46-87D9-1EE32402195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FF175F-3C9E-407D-A1E4-FE161C8AF6F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6783CB-B5EF-42AF-A46A-AA5A7F6D3317}"/>
              </a:ext>
            </a:extLst>
          </p:cNvPr>
          <p:cNvSpPr>
            <a:spLocks noGrp="1"/>
          </p:cNvSpPr>
          <p:nvPr>
            <p:ph type="dt" sz="half" idx="10"/>
          </p:nvPr>
        </p:nvSpPr>
        <p:spPr/>
        <p:txBody>
          <a:bodyPr/>
          <a:lstStyle/>
          <a:p>
            <a:fld id="{90BDCE29-86A1-42B3-8F1A-FB966B7FADD4}" type="datetimeFigureOut">
              <a:rPr lang="en-US" smtClean="0"/>
              <a:t>10/23/2026</a:t>
            </a:fld>
            <a:endParaRPr lang="en-US"/>
          </a:p>
        </p:txBody>
      </p:sp>
      <p:sp>
        <p:nvSpPr>
          <p:cNvPr id="6" name="Footer Placeholder 5">
            <a:extLst>
              <a:ext uri="{FF2B5EF4-FFF2-40B4-BE49-F238E27FC236}">
                <a16:creationId xmlns:a16="http://schemas.microsoft.com/office/drawing/2014/main" id="{72C3C1DE-3464-4409-A8F0-5972B4EEE0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53D05F-24D1-49F1-85AD-59DE4B31DA32}"/>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634828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6D277-4726-437E-8E2B-9CEA8537E3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ABE67F-64E3-4033-B5A1-6BC0E5F4CE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98FAB8D-9CF0-4C7D-B989-CA6EE9985DE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5F8840-0D21-4255-A03D-743366867F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0036D4E-3F7A-4F74-8B3F-B767E4AF51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5BA37A-CECA-45E4-B7C2-74C56C197213}"/>
              </a:ext>
            </a:extLst>
          </p:cNvPr>
          <p:cNvSpPr>
            <a:spLocks noGrp="1"/>
          </p:cNvSpPr>
          <p:nvPr>
            <p:ph type="dt" sz="half" idx="10"/>
          </p:nvPr>
        </p:nvSpPr>
        <p:spPr/>
        <p:txBody>
          <a:bodyPr/>
          <a:lstStyle/>
          <a:p>
            <a:fld id="{90BDCE29-86A1-42B3-8F1A-FB966B7FADD4}" type="datetimeFigureOut">
              <a:rPr lang="en-US" smtClean="0"/>
              <a:t>10/23/2026</a:t>
            </a:fld>
            <a:endParaRPr lang="en-US"/>
          </a:p>
        </p:txBody>
      </p:sp>
      <p:sp>
        <p:nvSpPr>
          <p:cNvPr id="8" name="Footer Placeholder 7">
            <a:extLst>
              <a:ext uri="{FF2B5EF4-FFF2-40B4-BE49-F238E27FC236}">
                <a16:creationId xmlns:a16="http://schemas.microsoft.com/office/drawing/2014/main" id="{516288F2-4204-4689-A7E9-488062A853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9585D0A-9D92-426D-A8D5-A288188DD79D}"/>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2709896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044E7-5C55-4AA0-B0D0-F874C4DACE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ACC5C4-8510-4145-876D-CBB151B78F34}"/>
              </a:ext>
            </a:extLst>
          </p:cNvPr>
          <p:cNvSpPr>
            <a:spLocks noGrp="1"/>
          </p:cNvSpPr>
          <p:nvPr>
            <p:ph type="dt" sz="half" idx="10"/>
          </p:nvPr>
        </p:nvSpPr>
        <p:spPr/>
        <p:txBody>
          <a:bodyPr/>
          <a:lstStyle/>
          <a:p>
            <a:fld id="{90BDCE29-86A1-42B3-8F1A-FB966B7FADD4}" type="datetimeFigureOut">
              <a:rPr lang="en-US" smtClean="0"/>
              <a:t>10/23/2026</a:t>
            </a:fld>
            <a:endParaRPr lang="en-US"/>
          </a:p>
        </p:txBody>
      </p:sp>
      <p:sp>
        <p:nvSpPr>
          <p:cNvPr id="4" name="Footer Placeholder 3">
            <a:extLst>
              <a:ext uri="{FF2B5EF4-FFF2-40B4-BE49-F238E27FC236}">
                <a16:creationId xmlns:a16="http://schemas.microsoft.com/office/drawing/2014/main" id="{F3D319E0-3F2F-4477-AF7C-1EA66A3EF1D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E0B773-316D-48CB-82F5-B5CFACCEB828}"/>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3572977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5543D0-8AD1-434E-A7B9-202BE7EDB1EC}"/>
              </a:ext>
            </a:extLst>
          </p:cNvPr>
          <p:cNvSpPr>
            <a:spLocks noGrp="1"/>
          </p:cNvSpPr>
          <p:nvPr>
            <p:ph type="dt" sz="half" idx="10"/>
          </p:nvPr>
        </p:nvSpPr>
        <p:spPr/>
        <p:txBody>
          <a:bodyPr/>
          <a:lstStyle/>
          <a:p>
            <a:fld id="{90BDCE29-86A1-42B3-8F1A-FB966B7FADD4}" type="datetimeFigureOut">
              <a:rPr lang="en-US" smtClean="0"/>
              <a:t>10/23/2026</a:t>
            </a:fld>
            <a:endParaRPr lang="en-US"/>
          </a:p>
        </p:txBody>
      </p:sp>
      <p:sp>
        <p:nvSpPr>
          <p:cNvPr id="3" name="Footer Placeholder 2">
            <a:extLst>
              <a:ext uri="{FF2B5EF4-FFF2-40B4-BE49-F238E27FC236}">
                <a16:creationId xmlns:a16="http://schemas.microsoft.com/office/drawing/2014/main" id="{9BC1380B-6A45-489A-83BD-C3FC3BFF5C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03D9EC-FD1D-4826-846B-ECFFE36C2A8C}"/>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3721366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5AD3A-7574-4AD9-B81B-897D8FBD28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D43E224-C009-4DB3-86FA-204D6CBAF8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AA72FE-DE2B-4AB3-82DA-2CDCBB8BA7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C577565-61C8-4D75-8768-FEBC50316C4E}"/>
              </a:ext>
            </a:extLst>
          </p:cNvPr>
          <p:cNvSpPr>
            <a:spLocks noGrp="1"/>
          </p:cNvSpPr>
          <p:nvPr>
            <p:ph type="dt" sz="half" idx="10"/>
          </p:nvPr>
        </p:nvSpPr>
        <p:spPr/>
        <p:txBody>
          <a:bodyPr/>
          <a:lstStyle/>
          <a:p>
            <a:fld id="{90BDCE29-86A1-42B3-8F1A-FB966B7FADD4}" type="datetimeFigureOut">
              <a:rPr lang="en-US" smtClean="0"/>
              <a:t>10/23/2026</a:t>
            </a:fld>
            <a:endParaRPr lang="en-US"/>
          </a:p>
        </p:txBody>
      </p:sp>
      <p:sp>
        <p:nvSpPr>
          <p:cNvPr id="6" name="Footer Placeholder 5">
            <a:extLst>
              <a:ext uri="{FF2B5EF4-FFF2-40B4-BE49-F238E27FC236}">
                <a16:creationId xmlns:a16="http://schemas.microsoft.com/office/drawing/2014/main" id="{4D9D793A-E627-4872-ABF4-42C2297FFF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5C26E9-AD79-43EA-9CE0-CE6E71CFEBB3}"/>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3084751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6384F-1C5D-408A-A75F-40BF624115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C842CE-CAE1-43F0-A5C1-A32D2890E8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A0FF61-2BB2-41A8-8330-4051552287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7104717-489C-403F-8FE4-5C475152D2D5}"/>
              </a:ext>
            </a:extLst>
          </p:cNvPr>
          <p:cNvSpPr>
            <a:spLocks noGrp="1"/>
          </p:cNvSpPr>
          <p:nvPr>
            <p:ph type="dt" sz="half" idx="10"/>
          </p:nvPr>
        </p:nvSpPr>
        <p:spPr/>
        <p:txBody>
          <a:bodyPr/>
          <a:lstStyle/>
          <a:p>
            <a:fld id="{90BDCE29-86A1-42B3-8F1A-FB966B7FADD4}" type="datetimeFigureOut">
              <a:rPr lang="en-US" smtClean="0"/>
              <a:t>10/23/2026</a:t>
            </a:fld>
            <a:endParaRPr lang="en-US"/>
          </a:p>
        </p:txBody>
      </p:sp>
      <p:sp>
        <p:nvSpPr>
          <p:cNvPr id="6" name="Footer Placeholder 5">
            <a:extLst>
              <a:ext uri="{FF2B5EF4-FFF2-40B4-BE49-F238E27FC236}">
                <a16:creationId xmlns:a16="http://schemas.microsoft.com/office/drawing/2014/main" id="{817C8FA0-78D0-4E73-A943-037BF06F85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0150D9-3E3B-4DD1-94AE-F06BF12969A7}"/>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1521340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55C90-21A2-4188-976C-028B6187B1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977B71-FD6A-4118-9512-FD5AABE584A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DDB9F5-9A90-498E-920D-B8FC9DEA123C}"/>
              </a:ext>
            </a:extLst>
          </p:cNvPr>
          <p:cNvSpPr>
            <a:spLocks noGrp="1"/>
          </p:cNvSpPr>
          <p:nvPr>
            <p:ph type="dt" sz="half" idx="10"/>
          </p:nvPr>
        </p:nvSpPr>
        <p:spPr/>
        <p:txBody>
          <a:bodyPr/>
          <a:lstStyle/>
          <a:p>
            <a:fld id="{90BDCE29-86A1-42B3-8F1A-FB966B7FADD4}" type="datetimeFigureOut">
              <a:rPr lang="en-US" smtClean="0"/>
              <a:t>10/23/2026</a:t>
            </a:fld>
            <a:endParaRPr lang="en-US"/>
          </a:p>
        </p:txBody>
      </p:sp>
      <p:sp>
        <p:nvSpPr>
          <p:cNvPr id="5" name="Footer Placeholder 4">
            <a:extLst>
              <a:ext uri="{FF2B5EF4-FFF2-40B4-BE49-F238E27FC236}">
                <a16:creationId xmlns:a16="http://schemas.microsoft.com/office/drawing/2014/main" id="{534B26F6-D52D-4CBD-B41D-9D77E91C09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7979CF-846E-4714-906C-136EE1CE21BA}"/>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1409102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51FF9D-365B-4615-802B-F9E004681D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66F2A6-A47A-4151-B01F-A5F9F195AA1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3292D-61BE-4DAA-A2B9-8E90B21D8FFD}"/>
              </a:ext>
            </a:extLst>
          </p:cNvPr>
          <p:cNvSpPr>
            <a:spLocks noGrp="1"/>
          </p:cNvSpPr>
          <p:nvPr>
            <p:ph type="dt" sz="half" idx="10"/>
          </p:nvPr>
        </p:nvSpPr>
        <p:spPr/>
        <p:txBody>
          <a:bodyPr/>
          <a:lstStyle/>
          <a:p>
            <a:fld id="{90BDCE29-86A1-42B3-8F1A-FB966B7FADD4}" type="datetimeFigureOut">
              <a:rPr lang="en-US" smtClean="0"/>
              <a:t>10/23/2026</a:t>
            </a:fld>
            <a:endParaRPr lang="en-US"/>
          </a:p>
        </p:txBody>
      </p:sp>
      <p:sp>
        <p:nvSpPr>
          <p:cNvPr id="5" name="Footer Placeholder 4">
            <a:extLst>
              <a:ext uri="{FF2B5EF4-FFF2-40B4-BE49-F238E27FC236}">
                <a16:creationId xmlns:a16="http://schemas.microsoft.com/office/drawing/2014/main" id="{2B6FBDC7-0C2A-4907-9858-CEEF1871D3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DE99A7-13C3-4B25-837E-6BF90D304E17}"/>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1504067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919419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920829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243625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391762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934073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19686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3296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073076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467366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302875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92910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53F2C8-F358-4ED5-B892-0C74BBE386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31C6D8-C713-427B-8BEB-B535E36BC1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671278-06DC-46A4-8EDC-A43F7F098F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BDCE29-86A1-42B3-8F1A-FB966B7FADD4}" type="datetimeFigureOut">
              <a:rPr lang="en-US" smtClean="0"/>
              <a:t>10/23/2026</a:t>
            </a:fld>
            <a:endParaRPr lang="en-US"/>
          </a:p>
        </p:txBody>
      </p:sp>
      <p:sp>
        <p:nvSpPr>
          <p:cNvPr id="5" name="Footer Placeholder 4">
            <a:extLst>
              <a:ext uri="{FF2B5EF4-FFF2-40B4-BE49-F238E27FC236}">
                <a16:creationId xmlns:a16="http://schemas.microsoft.com/office/drawing/2014/main" id="{9920D018-F932-4714-9B1D-4EBFD15F92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6E12ACD-60F0-4D85-AEFA-2B3A4C3FB8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ED67E6-486D-418A-B740-7F23BAF83996}" type="slidenum">
              <a:rPr lang="en-US" smtClean="0"/>
              <a:t>‹#›</a:t>
            </a:fld>
            <a:endParaRPr lang="en-US"/>
          </a:p>
        </p:txBody>
      </p:sp>
    </p:spTree>
    <p:extLst>
      <p:ext uri="{BB962C8B-B14F-4D97-AF65-F5344CB8AC3E}">
        <p14:creationId xmlns:p14="http://schemas.microsoft.com/office/powerpoint/2010/main" val="2975300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6221872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0030B-1E61-4849-B8B0-951C93DEFF60}"/>
              </a:ext>
            </a:extLst>
          </p:cNvPr>
          <p:cNvSpPr>
            <a:spLocks noGrp="1"/>
          </p:cNvSpPr>
          <p:nvPr>
            <p:ph type="ctrTitle"/>
          </p:nvPr>
        </p:nvSpPr>
        <p:spPr/>
        <p:txBody>
          <a:bodyPr>
            <a:normAutofit fontScale="90000"/>
          </a:bodyPr>
          <a:lstStyle/>
          <a:p>
            <a:r>
              <a:rPr lang="en-US" dirty="0"/>
              <a:t>Digital to Physical: Machine Learning for Control System Simulations</a:t>
            </a:r>
          </a:p>
        </p:txBody>
      </p:sp>
      <p:sp>
        <p:nvSpPr>
          <p:cNvPr id="3" name="Subtitle 2">
            <a:extLst>
              <a:ext uri="{FF2B5EF4-FFF2-40B4-BE49-F238E27FC236}">
                <a16:creationId xmlns:a16="http://schemas.microsoft.com/office/drawing/2014/main" id="{A80C50CE-3D5A-46BD-90B8-E0E3D2BDE7C8}"/>
              </a:ext>
            </a:extLst>
          </p:cNvPr>
          <p:cNvSpPr>
            <a:spLocks noGrp="1"/>
          </p:cNvSpPr>
          <p:nvPr>
            <p:ph type="subTitle" idx="1"/>
          </p:nvPr>
        </p:nvSpPr>
        <p:spPr/>
        <p:txBody>
          <a:bodyPr/>
          <a:lstStyle/>
          <a:p>
            <a:r>
              <a:rPr lang="en-US" dirty="0"/>
              <a:t>Evan Moore</a:t>
            </a:r>
          </a:p>
          <a:p>
            <a:r>
              <a:rPr lang="en-US" dirty="0"/>
              <a:t>10/2/26</a:t>
            </a:r>
          </a:p>
        </p:txBody>
      </p:sp>
    </p:spTree>
    <p:extLst>
      <p:ext uri="{BB962C8B-B14F-4D97-AF65-F5344CB8AC3E}">
        <p14:creationId xmlns:p14="http://schemas.microsoft.com/office/powerpoint/2010/main" val="2498848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3987-3810-4C7B-9BE1-C5492E2FF51A}"/>
              </a:ext>
            </a:extLst>
          </p:cNvPr>
          <p:cNvSpPr>
            <a:spLocks noGrp="1"/>
          </p:cNvSpPr>
          <p:nvPr>
            <p:ph type="title"/>
          </p:nvPr>
        </p:nvSpPr>
        <p:spPr/>
        <p:txBody>
          <a:bodyPr/>
          <a:lstStyle/>
          <a:p>
            <a:r>
              <a:rPr lang="en-US" b="1" dirty="0"/>
              <a:t>Project Goals</a:t>
            </a:r>
          </a:p>
        </p:txBody>
      </p:sp>
      <p:sp>
        <p:nvSpPr>
          <p:cNvPr id="3" name="Content Placeholder 2">
            <a:extLst>
              <a:ext uri="{FF2B5EF4-FFF2-40B4-BE49-F238E27FC236}">
                <a16:creationId xmlns:a16="http://schemas.microsoft.com/office/drawing/2014/main" id="{A76D46E8-BC77-41EA-8A34-2351ECB228BE}"/>
              </a:ext>
            </a:extLst>
          </p:cNvPr>
          <p:cNvSpPr>
            <a:spLocks noGrp="1"/>
          </p:cNvSpPr>
          <p:nvPr>
            <p:ph idx="1"/>
          </p:nvPr>
        </p:nvSpPr>
        <p:spPr>
          <a:xfrm>
            <a:off x="838200" y="1825625"/>
            <a:ext cx="6364574" cy="4351338"/>
          </a:xfrm>
        </p:spPr>
        <p:txBody>
          <a:bodyPr>
            <a:normAutofit lnSpcReduction="10000"/>
          </a:bodyPr>
          <a:lstStyle/>
          <a:p>
            <a:r>
              <a:rPr lang="en-US" dirty="0"/>
              <a:t>Apply machine learning (ML) to simulations of real-world control systems</a:t>
            </a:r>
          </a:p>
          <a:p>
            <a:r>
              <a:rPr lang="en-US" dirty="0"/>
              <a:t>Explore the gap between theory (physics &amp; simulations) and practicality (physical systems)</a:t>
            </a:r>
          </a:p>
          <a:p>
            <a:r>
              <a:rPr lang="en-US" dirty="0"/>
              <a:t>Bridge that simulation gap with ML compensation</a:t>
            </a:r>
          </a:p>
          <a:p>
            <a:pPr marL="0" indent="0">
              <a:buNone/>
            </a:pPr>
            <a:r>
              <a:rPr lang="en-US" b="1" dirty="0"/>
              <a:t>Overall Goal:</a:t>
            </a:r>
          </a:p>
          <a:p>
            <a:r>
              <a:rPr lang="en-US" dirty="0"/>
              <a:t>Streamline the process of critically balancing control systems</a:t>
            </a:r>
          </a:p>
        </p:txBody>
      </p:sp>
      <p:pic>
        <p:nvPicPr>
          <p:cNvPr id="4" name="Picture 3" descr="How to contruct a self-balancing robot – karooza.net">
            <a:extLst>
              <a:ext uri="{FF2B5EF4-FFF2-40B4-BE49-F238E27FC236}">
                <a16:creationId xmlns:a16="http://schemas.microsoft.com/office/drawing/2014/main" id="{9D7C14FD-19AA-7EF9-4EAF-BD6CD93FE2BF}"/>
              </a:ext>
            </a:extLst>
          </p:cNvPr>
          <p:cNvPicPr>
            <a:picLocks noChangeAspect="1"/>
          </p:cNvPicPr>
          <p:nvPr/>
        </p:nvPicPr>
        <p:blipFill>
          <a:blip r:embed="rId3"/>
          <a:stretch>
            <a:fillRect/>
          </a:stretch>
        </p:blipFill>
        <p:spPr>
          <a:xfrm>
            <a:off x="7090347" y="857250"/>
            <a:ext cx="5223244" cy="5143500"/>
          </a:xfrm>
          <a:prstGeom prst="rect">
            <a:avLst/>
          </a:prstGeom>
        </p:spPr>
      </p:pic>
    </p:spTree>
    <p:extLst>
      <p:ext uri="{BB962C8B-B14F-4D97-AF65-F5344CB8AC3E}">
        <p14:creationId xmlns:p14="http://schemas.microsoft.com/office/powerpoint/2010/main" val="3348751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0570B-8644-447E-B091-63C9EB4AA205}"/>
              </a:ext>
            </a:extLst>
          </p:cNvPr>
          <p:cNvSpPr>
            <a:spLocks noGrp="1"/>
          </p:cNvSpPr>
          <p:nvPr>
            <p:ph type="title"/>
          </p:nvPr>
        </p:nvSpPr>
        <p:spPr/>
        <p:txBody>
          <a:bodyPr/>
          <a:lstStyle/>
          <a:p>
            <a:r>
              <a:rPr lang="en-US" b="1" dirty="0"/>
              <a:t>Progress </a:t>
            </a:r>
          </a:p>
        </p:txBody>
      </p:sp>
      <p:sp>
        <p:nvSpPr>
          <p:cNvPr id="3" name="Content Placeholder 2">
            <a:extLst>
              <a:ext uri="{FF2B5EF4-FFF2-40B4-BE49-F238E27FC236}">
                <a16:creationId xmlns:a16="http://schemas.microsoft.com/office/drawing/2014/main" id="{F4B1BE7A-2352-4B3C-BF51-380A64744009}"/>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86544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11247120" cy="5539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600" b="1" i="0" u="none" strike="noStrike" kern="1200" cap="none" spc="0" normalizeH="0" baseline="0" noProof="0" dirty="0">
                <a:ln>
                  <a:noFill/>
                </a:ln>
                <a:solidFill>
                  <a:srgbClr val="1F2933"/>
                </a:solidFill>
                <a:effectLst/>
                <a:uLnTx/>
                <a:uFillTx/>
                <a:latin typeface="Calibri Light" panose="020F0302020204030204" pitchFamily="34" charset="0"/>
                <a:ea typeface="Calibri Light" panose="020F0302020204030204" pitchFamily="34" charset="0"/>
                <a:cs typeface="Calibri Light" panose="020F0302020204030204" pitchFamily="34" charset="0"/>
              </a:rPr>
              <a:t>What runs, in order</a:t>
            </a:r>
          </a:p>
        </p:txBody>
      </p:sp>
      <p:sp>
        <p:nvSpPr>
          <p:cNvPr id="3" name="TextBox 2"/>
          <p:cNvSpPr txBox="1"/>
          <p:nvPr/>
        </p:nvSpPr>
        <p:spPr>
          <a:xfrm>
            <a:off x="457200" y="960120"/>
            <a:ext cx="11247120" cy="24622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srgbClr val="5B6773"/>
                </a:solidFill>
                <a:latin typeface="Calibri"/>
              </a:rPr>
              <a:t>Tuning pipeline for one run</a:t>
            </a:r>
            <a:endParaRPr kumimoji="0" sz="1600" b="0" i="0" u="none" strike="noStrike" kern="1200" cap="none" spc="0" normalizeH="0" baseline="0" noProof="0" dirty="0">
              <a:ln>
                <a:noFill/>
              </a:ln>
              <a:solidFill>
                <a:srgbClr val="5B6773"/>
              </a:solidFill>
              <a:effectLst/>
              <a:uLnTx/>
              <a:uFillTx/>
              <a:latin typeface="Calibri"/>
              <a:ea typeface="+mn-ea"/>
              <a:cs typeface="+mn-cs"/>
            </a:endParaRPr>
          </a:p>
        </p:txBody>
      </p:sp>
      <p:sp>
        <p:nvSpPr>
          <p:cNvPr id="4" name="Rounded Rectangle 3"/>
          <p:cNvSpPr/>
          <p:nvPr/>
        </p:nvSpPr>
        <p:spPr>
          <a:xfrm>
            <a:off x="457200" y="1828800"/>
            <a:ext cx="1737360" cy="1097280"/>
          </a:xfrm>
          <a:prstGeom prst="roundRect">
            <a:avLst>
              <a:gd name="adj" fmla="val 12000"/>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FFF"/>
                </a:solidFill>
                <a:effectLst/>
                <a:uLnTx/>
                <a:uFillTx/>
                <a:latin typeface="Calibri"/>
                <a:ea typeface="+mn-ea"/>
                <a:cs typeface="+mn-cs"/>
              </a:rPr>
              <a:t>config.py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FFFFFF"/>
                </a:solidFill>
                <a:effectLst/>
                <a:uLnTx/>
                <a:uFillTx/>
                <a:latin typeface="Calibri"/>
                <a:ea typeface="+mn-ea"/>
                <a:cs typeface="+mn-cs"/>
              </a:rPr>
              <a:t>CONFIG</a:t>
            </a:r>
          </a:p>
        </p:txBody>
      </p:sp>
      <p:sp>
        <p:nvSpPr>
          <p:cNvPr id="5" name="Rounded Rectangle 4"/>
          <p:cNvSpPr/>
          <p:nvPr/>
        </p:nvSpPr>
        <p:spPr>
          <a:xfrm>
            <a:off x="2651760" y="1828800"/>
            <a:ext cx="1737360" cy="1097280"/>
          </a:xfrm>
          <a:prstGeom prst="roundRect">
            <a:avLst>
              <a:gd name="adj" fmla="val 12000"/>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FFF"/>
                </a:solidFill>
                <a:effectLst/>
                <a:uLnTx/>
                <a:uFillTx/>
                <a:latin typeface="Calibri"/>
                <a:ea typeface="+mn-ea"/>
                <a:cs typeface="+mn-cs"/>
              </a:rPr>
              <a:t>EvalConfig + SearchSpace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FFFFFF"/>
                </a:solidFill>
                <a:effectLst/>
                <a:uLnTx/>
                <a:uFillTx/>
                <a:latin typeface="Calibri"/>
                <a:ea typeface="+mn-ea"/>
                <a:cs typeface="+mn-cs"/>
              </a:rPr>
              <a:t>(+ RobustnessConfig)</a:t>
            </a:r>
          </a:p>
        </p:txBody>
      </p:sp>
      <p:sp>
        <p:nvSpPr>
          <p:cNvPr id="6" name="Rounded Rectangle 5"/>
          <p:cNvSpPr/>
          <p:nvPr/>
        </p:nvSpPr>
        <p:spPr>
          <a:xfrm>
            <a:off x="4846320" y="1828800"/>
            <a:ext cx="1737360" cy="1097280"/>
          </a:xfrm>
          <a:prstGeom prst="roundRect">
            <a:avLst>
              <a:gd name="adj" fmla="val 12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FFFFFF"/>
                </a:solidFill>
                <a:effectLst/>
                <a:uLnTx/>
                <a:uFillTx/>
                <a:latin typeface="Calibri"/>
                <a:ea typeface="+mn-ea"/>
                <a:cs typeface="+mn-cs"/>
              </a:rPr>
              <a:t>Evaluator / </a:t>
            </a:r>
            <a:endParaRPr kumimoji="0" lang="en-US" sz="1500" b="1" i="0" u="none" strike="noStrike" kern="1200" cap="none" spc="0" normalizeH="0" baseline="0" noProof="0" dirty="0">
              <a:ln>
                <a:noFill/>
              </a:ln>
              <a:solidFill>
                <a:srgbClr val="FFFFFF"/>
              </a:solidFill>
              <a:effectLst/>
              <a:uLnTx/>
              <a:uFillTx/>
              <a:latin typeface="Calibri"/>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FFFFFF"/>
                </a:solidFill>
                <a:effectLst/>
                <a:uLnTx/>
                <a:uFillTx/>
                <a:latin typeface="Calibri"/>
                <a:ea typeface="+mn-ea"/>
                <a:cs typeface="+mn-cs"/>
              </a:rPr>
              <a:t>Batch</a:t>
            </a:r>
            <a:r>
              <a:rPr kumimoji="0" lang="en-US" sz="1500" b="1" i="0" u="none" strike="noStrike" kern="1200" cap="none" spc="0" normalizeH="0" baseline="0" noProof="0" dirty="0">
                <a:ln>
                  <a:noFill/>
                </a:ln>
                <a:solidFill>
                  <a:srgbClr val="FFFFFF"/>
                </a:solidFill>
                <a:effectLst/>
                <a:uLnTx/>
                <a:uFillTx/>
                <a:latin typeface="Calibri"/>
                <a:ea typeface="+mn-ea"/>
                <a:cs typeface="+mn-cs"/>
              </a:rPr>
              <a:t> </a:t>
            </a:r>
            <a:r>
              <a:rPr kumimoji="0" sz="1500" b="1" i="0" u="none" strike="noStrike" kern="1200" cap="none" spc="0" normalizeH="0" baseline="0" noProof="0" dirty="0">
                <a:ln>
                  <a:noFill/>
                </a:ln>
                <a:solidFill>
                  <a:srgbClr val="FFFFFF"/>
                </a:solidFill>
                <a:effectLst/>
                <a:uLnTx/>
                <a:uFillTx/>
                <a:latin typeface="Calibri"/>
                <a:ea typeface="+mn-ea"/>
                <a:cs typeface="+mn-cs"/>
              </a:rPr>
              <a:t>Evaluator</a:t>
            </a:r>
          </a:p>
        </p:txBody>
      </p:sp>
      <p:sp>
        <p:nvSpPr>
          <p:cNvPr id="7" name="Rounded Rectangle 6"/>
          <p:cNvSpPr/>
          <p:nvPr/>
        </p:nvSpPr>
        <p:spPr>
          <a:xfrm>
            <a:off x="7772400" y="1828800"/>
            <a:ext cx="1737360" cy="1097280"/>
          </a:xfrm>
          <a:prstGeom prst="roundRect">
            <a:avLst>
              <a:gd name="adj" fmla="val 12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FFF"/>
                </a:solidFill>
                <a:effectLst/>
                <a:uLnTx/>
                <a:uFillTx/>
                <a:latin typeface="Calibri"/>
                <a:ea typeface="+mn-ea"/>
                <a:cs typeface="+mn-cs"/>
              </a:rPr>
              <a:t>Simulator</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FFFFFF"/>
                </a:solidFill>
                <a:effectLst/>
                <a:uLnTx/>
                <a:uFillTx/>
                <a:latin typeface="Calibri"/>
                <a:ea typeface="+mn-ea"/>
                <a:cs typeface="+mn-cs"/>
              </a:rPr>
              <a:t>balance_sim / batch_sim</a:t>
            </a:r>
          </a:p>
        </p:txBody>
      </p:sp>
      <p:sp>
        <p:nvSpPr>
          <p:cNvPr id="8" name="Rounded Rectangle 7"/>
          <p:cNvSpPr/>
          <p:nvPr/>
        </p:nvSpPr>
        <p:spPr>
          <a:xfrm>
            <a:off x="4846320" y="3931920"/>
            <a:ext cx="1737360" cy="1097280"/>
          </a:xfrm>
          <a:prstGeom prst="roundRect">
            <a:avLst>
              <a:gd name="adj" fmla="val 12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FFF"/>
                </a:solidFill>
                <a:effectLst/>
                <a:uLnTx/>
                <a:uFillTx/>
                <a:latin typeface="Calibri"/>
                <a:ea typeface="+mn-ea"/>
                <a:cs typeface="+mn-cs"/>
              </a:rPr>
              <a:t>Optimizer</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FFFFFF"/>
                </a:solidFill>
                <a:effectLst/>
                <a:uLnTx/>
                <a:uFillTx/>
                <a:latin typeface="Calibri"/>
                <a:ea typeface="+mn-ea"/>
                <a:cs typeface="+mn-cs"/>
              </a:rPr>
              <a:t>DE, CMA-ES, random, BO</a:t>
            </a:r>
          </a:p>
        </p:txBody>
      </p:sp>
      <p:sp>
        <p:nvSpPr>
          <p:cNvPr id="9" name="Rounded Rectangle 8"/>
          <p:cNvSpPr/>
          <p:nvPr/>
        </p:nvSpPr>
        <p:spPr>
          <a:xfrm>
            <a:off x="7772400" y="3931920"/>
            <a:ext cx="1737360" cy="1097280"/>
          </a:xfrm>
          <a:prstGeom prst="roundRect">
            <a:avLst>
              <a:gd name="adj" fmla="val 12000"/>
            </a:avLst>
          </a:prstGeom>
          <a:solidFill>
            <a:srgbClr val="B4482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FFF"/>
                </a:solidFill>
                <a:effectLst/>
                <a:uLnTx/>
                <a:uFillTx/>
                <a:latin typeface="Calibri"/>
                <a:ea typeface="+mn-ea"/>
                <a:cs typeface="+mn-cs"/>
              </a:rPr>
              <a:t>Validation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FFFFFF"/>
                </a:solidFill>
                <a:effectLst/>
                <a:uLnTx/>
                <a:uFillTx/>
                <a:latin typeface="Calibri"/>
                <a:ea typeface="+mn-ea"/>
                <a:cs typeface="+mn-cs"/>
              </a:rPr>
              <a:t>unseen seeds (and robots)</a:t>
            </a:r>
          </a:p>
        </p:txBody>
      </p:sp>
      <p:sp>
        <p:nvSpPr>
          <p:cNvPr id="10" name="Rounded Rectangle 9"/>
          <p:cNvSpPr/>
          <p:nvPr/>
        </p:nvSpPr>
        <p:spPr>
          <a:xfrm>
            <a:off x="10058400" y="3931920"/>
            <a:ext cx="1737360" cy="1097280"/>
          </a:xfrm>
          <a:prstGeom prst="roundRect">
            <a:avLst>
              <a:gd name="adj" fmla="val 12000"/>
            </a:avLst>
          </a:prstGeom>
          <a:solidFill>
            <a:srgbClr val="B4482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FFF"/>
                </a:solidFill>
                <a:effectLst/>
                <a:uLnTx/>
                <a:uFillTx/>
                <a:latin typeface="Calibri"/>
                <a:ea typeface="+mn-ea"/>
                <a:cs typeface="+mn-cs"/>
              </a:rPr>
              <a:t>results/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FFFFFF"/>
                </a:solidFill>
                <a:effectLst/>
                <a:uLnTx/>
                <a:uFillTx/>
                <a:latin typeface="Calibri"/>
                <a:ea typeface="+mn-ea"/>
                <a:cs typeface="+mn-cs"/>
              </a:rPr>
              <a:t>JSON, CSV, plots</a:t>
            </a:r>
          </a:p>
        </p:txBody>
      </p:sp>
      <p:cxnSp>
        <p:nvCxnSpPr>
          <p:cNvPr id="11" name="Connector 10"/>
          <p:cNvCxnSpPr/>
          <p:nvPr/>
        </p:nvCxnSpPr>
        <p:spPr>
          <a:xfrm>
            <a:off x="2194560" y="2377440"/>
            <a:ext cx="457200" cy="0"/>
          </a:xfrm>
          <a:prstGeom prst="line">
            <a:avLst/>
          </a:prstGeom>
          <a:ln w="25400">
            <a:solidFill>
              <a:srgbClr val="4A55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389120" y="2377440"/>
            <a:ext cx="457200" cy="0"/>
          </a:xfrm>
          <a:prstGeom prst="line">
            <a:avLst/>
          </a:prstGeom>
          <a:ln w="25400">
            <a:solidFill>
              <a:srgbClr val="4A55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83679" y="2176272"/>
            <a:ext cx="1188721" cy="0"/>
          </a:xfrm>
          <a:prstGeom prst="line">
            <a:avLst/>
          </a:prstGeom>
          <a:ln w="25400">
            <a:solidFill>
              <a:srgbClr val="4A55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583679" y="2578608"/>
            <a:ext cx="1188721" cy="0"/>
          </a:xfrm>
          <a:prstGeom prst="line">
            <a:avLst/>
          </a:prstGeom>
          <a:ln w="25400">
            <a:solidFill>
              <a:srgbClr val="4A55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583679" y="1719072"/>
            <a:ext cx="1188720" cy="365760"/>
          </a:xfrm>
          <a:prstGeom prst="rect">
            <a:avLst/>
          </a:prstGeom>
          <a:noFill/>
        </p:spPr>
        <p:txBody>
          <a:bodyPr wrap="squar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5B6773"/>
                </a:solidFill>
                <a:effectLst/>
                <a:uLnTx/>
                <a:uFillTx/>
                <a:latin typeface="Calibri"/>
                <a:ea typeface="+mn-ea"/>
                <a:cs typeface="+mn-cs"/>
              </a:rPr>
              <a:t>one run per</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5B6773"/>
                </a:solidFill>
                <a:effectLst/>
                <a:uLnTx/>
                <a:uFillTx/>
                <a:latin typeface="Calibri"/>
                <a:ea typeface="+mn-ea"/>
                <a:cs typeface="+mn-cs"/>
              </a:rPr>
              <a:t>scenario</a:t>
            </a:r>
          </a:p>
        </p:txBody>
      </p:sp>
      <p:sp>
        <p:nvSpPr>
          <p:cNvPr id="16" name="TextBox 15"/>
          <p:cNvSpPr txBox="1"/>
          <p:nvPr/>
        </p:nvSpPr>
        <p:spPr>
          <a:xfrm>
            <a:off x="6583679" y="2670048"/>
            <a:ext cx="1188720" cy="365760"/>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5B6773"/>
                </a:solidFill>
                <a:effectLst/>
                <a:uLnTx/>
                <a:uFillTx/>
                <a:latin typeface="Calibri"/>
                <a:ea typeface="+mn-ea"/>
                <a:cs typeface="+mn-cs"/>
              </a:rPr>
              <a:t>cost per run</a:t>
            </a:r>
          </a:p>
        </p:txBody>
      </p:sp>
      <p:cxnSp>
        <p:nvCxnSpPr>
          <p:cNvPr id="17" name="Connector 16"/>
          <p:cNvCxnSpPr/>
          <p:nvPr/>
        </p:nvCxnSpPr>
        <p:spPr>
          <a:xfrm flipV="1">
            <a:off x="5394959" y="2926080"/>
            <a:ext cx="0" cy="1005840"/>
          </a:xfrm>
          <a:prstGeom prst="line">
            <a:avLst/>
          </a:prstGeom>
          <a:ln w="25400">
            <a:solidFill>
              <a:srgbClr val="4A55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035040" y="2926080"/>
            <a:ext cx="0" cy="1005840"/>
          </a:xfrm>
          <a:prstGeom prst="line">
            <a:avLst/>
          </a:prstGeom>
          <a:ln w="25400">
            <a:solidFill>
              <a:srgbClr val="4A55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657599" y="3246120"/>
            <a:ext cx="1645920" cy="457200"/>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5B6773"/>
                </a:solidFill>
                <a:effectLst/>
                <a:uLnTx/>
                <a:uFillTx/>
                <a:latin typeface="Calibri"/>
                <a:ea typeface="+mn-ea"/>
                <a:cs typeface="+mn-cs"/>
              </a:rPr>
              <a:t>candidate gains</a:t>
            </a:r>
          </a:p>
        </p:txBody>
      </p:sp>
      <p:sp>
        <p:nvSpPr>
          <p:cNvPr id="20" name="TextBox 19"/>
          <p:cNvSpPr txBox="1"/>
          <p:nvPr/>
        </p:nvSpPr>
        <p:spPr>
          <a:xfrm>
            <a:off x="6126479" y="3246120"/>
            <a:ext cx="1371600" cy="457200"/>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5B6773"/>
                </a:solidFill>
                <a:effectLst/>
                <a:uLnTx/>
                <a:uFillTx/>
                <a:latin typeface="Calibri"/>
                <a:ea typeface="+mn-ea"/>
                <a:cs typeface="+mn-cs"/>
              </a:rPr>
              <a:t>mean cost</a:t>
            </a:r>
          </a:p>
        </p:txBody>
      </p:sp>
      <p:cxnSp>
        <p:nvCxnSpPr>
          <p:cNvPr id="21" name="Connector 20"/>
          <p:cNvCxnSpPr/>
          <p:nvPr/>
        </p:nvCxnSpPr>
        <p:spPr>
          <a:xfrm>
            <a:off x="6583679" y="4480559"/>
            <a:ext cx="1188721" cy="0"/>
          </a:xfrm>
          <a:prstGeom prst="line">
            <a:avLst/>
          </a:prstGeom>
          <a:ln w="25400">
            <a:solidFill>
              <a:srgbClr val="4A55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583679" y="3977639"/>
            <a:ext cx="1188720" cy="365760"/>
          </a:xfrm>
          <a:prstGeom prst="rect">
            <a:avLst/>
          </a:prstGeom>
          <a:noFill/>
        </p:spPr>
        <p:txBody>
          <a:bodyPr wrap="squar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5B6773"/>
                </a:solidFill>
                <a:effectLst/>
                <a:uLnTx/>
                <a:uFillTx/>
                <a:latin typeface="Calibri"/>
                <a:ea typeface="+mn-ea"/>
                <a:cs typeface="+mn-cs"/>
              </a:rPr>
              <a:t>best gains</a:t>
            </a:r>
          </a:p>
        </p:txBody>
      </p:sp>
      <p:cxnSp>
        <p:nvCxnSpPr>
          <p:cNvPr id="23" name="Connector 22"/>
          <p:cNvCxnSpPr/>
          <p:nvPr/>
        </p:nvCxnSpPr>
        <p:spPr>
          <a:xfrm>
            <a:off x="9509760" y="4480559"/>
            <a:ext cx="548640" cy="0"/>
          </a:xfrm>
          <a:prstGeom prst="line">
            <a:avLst/>
          </a:prstGeom>
          <a:ln w="25400">
            <a:solidFill>
              <a:srgbClr val="4A55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57200" y="5833872"/>
            <a:ext cx="237744" cy="237744"/>
          </a:xfrm>
          <a:prstGeom prst="round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p:cNvSpPr txBox="1"/>
          <p:nvPr/>
        </p:nvSpPr>
        <p:spPr>
          <a:xfrm>
            <a:off x="804672" y="5806440"/>
            <a:ext cx="2377440" cy="292608"/>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1F2933"/>
                </a:solidFill>
                <a:effectLst/>
                <a:uLnTx/>
                <a:uFillTx/>
                <a:latin typeface="Calibri"/>
                <a:ea typeface="+mn-ea"/>
                <a:cs typeface="+mn-cs"/>
              </a:rPr>
              <a:t>Setup (once per script)</a:t>
            </a:r>
          </a:p>
        </p:txBody>
      </p:sp>
      <p:sp>
        <p:nvSpPr>
          <p:cNvPr id="26" name="Rounded Rectangle 25"/>
          <p:cNvSpPr/>
          <p:nvPr/>
        </p:nvSpPr>
        <p:spPr>
          <a:xfrm>
            <a:off x="3456432" y="5833872"/>
            <a:ext cx="237744" cy="237744"/>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TextBox 26"/>
          <p:cNvSpPr txBox="1"/>
          <p:nvPr/>
        </p:nvSpPr>
        <p:spPr>
          <a:xfrm>
            <a:off x="3803904" y="5806440"/>
            <a:ext cx="4206240" cy="292608"/>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1F2933"/>
                </a:solidFill>
                <a:effectLst/>
                <a:uLnTx/>
                <a:uFillTx/>
                <a:latin typeface="Calibri"/>
                <a:ea typeface="+mn-ea"/>
                <a:cs typeface="+mn-cs"/>
              </a:rPr>
              <a:t>Search loop (repeats until the budget runs out)</a:t>
            </a:r>
          </a:p>
        </p:txBody>
      </p:sp>
      <p:sp>
        <p:nvSpPr>
          <p:cNvPr id="28" name="Rounded Rectangle 27"/>
          <p:cNvSpPr/>
          <p:nvPr/>
        </p:nvSpPr>
        <p:spPr>
          <a:xfrm>
            <a:off x="8284463" y="5833872"/>
            <a:ext cx="237744" cy="237744"/>
          </a:xfrm>
          <a:prstGeom prst="roundRect">
            <a:avLst/>
          </a:prstGeom>
          <a:solidFill>
            <a:srgbClr val="B44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TextBox 28"/>
          <p:cNvSpPr txBox="1"/>
          <p:nvPr/>
        </p:nvSpPr>
        <p:spPr>
          <a:xfrm>
            <a:off x="8631936" y="5806440"/>
            <a:ext cx="1280160" cy="292608"/>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1F2933"/>
                </a:solidFill>
                <a:effectLst/>
                <a:uLnTx/>
                <a:uFillTx/>
                <a:latin typeface="Calibri"/>
                <a:ea typeface="+mn-ea"/>
                <a:cs typeface="+mn-cs"/>
              </a:rPr>
              <a:t>Wrap-up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B5D0F-17E3-621D-F304-4E0EBE79FF0B}"/>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A184D779-FF4D-8718-64F8-33A53C33DF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9750" y="0"/>
            <a:ext cx="8572500" cy="6858000"/>
          </a:xfrm>
          <a:prstGeom prst="rect">
            <a:avLst/>
          </a:prstGeom>
        </p:spPr>
      </p:pic>
    </p:spTree>
    <p:extLst>
      <p:ext uri="{BB962C8B-B14F-4D97-AF65-F5344CB8AC3E}">
        <p14:creationId xmlns:p14="http://schemas.microsoft.com/office/powerpoint/2010/main" val="3637355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7F5FE-E8CB-4B33-8B5A-5404CA19573B}"/>
              </a:ext>
            </a:extLst>
          </p:cNvPr>
          <p:cNvSpPr>
            <a:spLocks noGrp="1"/>
          </p:cNvSpPr>
          <p:nvPr>
            <p:ph type="title"/>
          </p:nvPr>
        </p:nvSpPr>
        <p:spPr/>
        <p:txBody>
          <a:bodyPr/>
          <a:lstStyle/>
          <a:p>
            <a:r>
              <a:rPr lang="en-US" b="1" dirty="0"/>
              <a:t>Challenges/Issues</a:t>
            </a:r>
          </a:p>
        </p:txBody>
      </p:sp>
      <p:sp>
        <p:nvSpPr>
          <p:cNvPr id="3" name="Content Placeholder 2">
            <a:extLst>
              <a:ext uri="{FF2B5EF4-FFF2-40B4-BE49-F238E27FC236}">
                <a16:creationId xmlns:a16="http://schemas.microsoft.com/office/drawing/2014/main" id="{5053997A-1AC2-4CA9-B781-1EBE596CC885}"/>
              </a:ext>
            </a:extLst>
          </p:cNvPr>
          <p:cNvSpPr>
            <a:spLocks noGrp="1"/>
          </p:cNvSpPr>
          <p:nvPr>
            <p:ph idx="1"/>
          </p:nvPr>
        </p:nvSpPr>
        <p:spPr/>
        <p:txBody>
          <a:bodyPr/>
          <a:lstStyle/>
          <a:p>
            <a:r>
              <a:rPr lang="en-US"/>
              <a:t>Growing </a:t>
            </a:r>
            <a:r>
              <a:rPr lang="en-US" dirty="0"/>
              <a:t>tech debt</a:t>
            </a:r>
          </a:p>
          <a:p>
            <a:pPr marL="0" indent="0">
              <a:buNone/>
            </a:pPr>
            <a:endParaRPr lang="en-US" dirty="0"/>
          </a:p>
        </p:txBody>
      </p:sp>
    </p:spTree>
    <p:extLst>
      <p:ext uri="{BB962C8B-B14F-4D97-AF65-F5344CB8AC3E}">
        <p14:creationId xmlns:p14="http://schemas.microsoft.com/office/powerpoint/2010/main" val="3450686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BE632-4DC7-4B06-B924-E72FEC130C87}"/>
              </a:ext>
            </a:extLst>
          </p:cNvPr>
          <p:cNvSpPr>
            <a:spLocks noGrp="1"/>
          </p:cNvSpPr>
          <p:nvPr>
            <p:ph type="title"/>
          </p:nvPr>
        </p:nvSpPr>
        <p:spPr/>
        <p:txBody>
          <a:bodyPr/>
          <a:lstStyle/>
          <a:p>
            <a:r>
              <a:rPr lang="en-US" b="1" dirty="0"/>
              <a:t>Next Steps</a:t>
            </a:r>
          </a:p>
        </p:txBody>
      </p:sp>
      <p:sp>
        <p:nvSpPr>
          <p:cNvPr id="3" name="Content Placeholder 2">
            <a:extLst>
              <a:ext uri="{FF2B5EF4-FFF2-40B4-BE49-F238E27FC236}">
                <a16:creationId xmlns:a16="http://schemas.microsoft.com/office/drawing/2014/main" id="{5B92FFE8-4C91-4BC2-9456-FAD72D2B2EB4}"/>
              </a:ext>
            </a:extLst>
          </p:cNvPr>
          <p:cNvSpPr>
            <a:spLocks noGrp="1"/>
          </p:cNvSpPr>
          <p:nvPr>
            <p:ph idx="1"/>
          </p:nvPr>
        </p:nvSpPr>
        <p:spPr/>
        <p:txBody>
          <a:bodyPr/>
          <a:lstStyle/>
          <a:p>
            <a:pPr marL="514350" indent="-514350">
              <a:buAutoNum type="arabicPeriod"/>
            </a:pPr>
            <a:r>
              <a:rPr lang="en-US" dirty="0"/>
              <a:t>Research proper physical constants (motor emf, mass, friction, </a:t>
            </a:r>
            <a:r>
              <a:rPr lang="en-US" dirty="0" err="1"/>
              <a:t>etc</a:t>
            </a:r>
            <a:r>
              <a:rPr lang="en-US" dirty="0"/>
              <a:t>)</a:t>
            </a:r>
          </a:p>
          <a:p>
            <a:pPr marL="514350" indent="-514350">
              <a:buAutoNum type="arabicPeriod"/>
            </a:pPr>
            <a:r>
              <a:rPr lang="en-US" dirty="0"/>
              <a:t>Explore other control system frameworks LQR vs PID, </a:t>
            </a:r>
            <a:r>
              <a:rPr lang="en-US" dirty="0" err="1"/>
              <a:t>etc</a:t>
            </a:r>
            <a:endParaRPr lang="en-US" dirty="0"/>
          </a:p>
          <a:p>
            <a:pPr marL="514350" indent="-514350">
              <a:buAutoNum type="arabicPeriod"/>
            </a:pPr>
            <a:r>
              <a:rPr lang="en-US" dirty="0"/>
              <a:t>Verify physics engine</a:t>
            </a:r>
          </a:p>
          <a:p>
            <a:pPr marL="971550" lvl="1" indent="-514350">
              <a:buAutoNum type="arabicPeriod"/>
            </a:pPr>
            <a:r>
              <a:rPr lang="en-US" dirty="0"/>
              <a:t>Write complete documentation on the physics</a:t>
            </a:r>
          </a:p>
          <a:p>
            <a:pPr marL="0" indent="0">
              <a:buNone/>
            </a:pPr>
            <a:r>
              <a:rPr lang="en-US" dirty="0"/>
              <a:t>4.   Expand code documentation (fight tech debt)</a:t>
            </a:r>
          </a:p>
          <a:p>
            <a:pPr marL="514350" indent="-514350">
              <a:buAutoNum type="arabicPeriod" startAt="3"/>
            </a:pPr>
            <a:endParaRPr lang="en-US" dirty="0"/>
          </a:p>
        </p:txBody>
      </p:sp>
    </p:spTree>
    <p:extLst>
      <p:ext uri="{BB962C8B-B14F-4D97-AF65-F5344CB8AC3E}">
        <p14:creationId xmlns:p14="http://schemas.microsoft.com/office/powerpoint/2010/main" val="4024000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AFA8D-36DE-C6E6-B4AF-5555779310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0D8196-DD11-5551-F256-51F37DC9F17B}"/>
              </a:ext>
            </a:extLst>
          </p:cNvPr>
          <p:cNvSpPr>
            <a:spLocks noGrp="1"/>
          </p:cNvSpPr>
          <p:nvPr>
            <p:ph type="title"/>
          </p:nvPr>
        </p:nvSpPr>
        <p:spPr/>
        <p:txBody>
          <a:bodyPr/>
          <a:lstStyle/>
          <a:p>
            <a:r>
              <a:rPr lang="en-US" b="1" dirty="0"/>
              <a:t>Project Goals</a:t>
            </a:r>
          </a:p>
        </p:txBody>
      </p:sp>
      <p:sp>
        <p:nvSpPr>
          <p:cNvPr id="3" name="Content Placeholder 2">
            <a:extLst>
              <a:ext uri="{FF2B5EF4-FFF2-40B4-BE49-F238E27FC236}">
                <a16:creationId xmlns:a16="http://schemas.microsoft.com/office/drawing/2014/main" id="{94A75C6A-1670-219D-1EA6-1ACE2C9BECE0}"/>
              </a:ext>
            </a:extLst>
          </p:cNvPr>
          <p:cNvSpPr>
            <a:spLocks noGrp="1"/>
          </p:cNvSpPr>
          <p:nvPr>
            <p:ph idx="1"/>
          </p:nvPr>
        </p:nvSpPr>
        <p:spPr/>
        <p:txBody>
          <a:bodyPr/>
          <a:lstStyle/>
          <a:p>
            <a:pPr marL="514350" indent="-514350">
              <a:buAutoNum type="arabicPeriod"/>
            </a:pPr>
            <a:r>
              <a:rPr lang="en-US" dirty="0"/>
              <a:t>Establish an understanding of current ML physics simulation literature</a:t>
            </a:r>
          </a:p>
          <a:p>
            <a:pPr marL="514350" indent="-514350">
              <a:buAutoNum type="arabicPeriod"/>
            </a:pPr>
            <a:r>
              <a:rPr lang="en-US" dirty="0"/>
              <a:t>Build a classical physics simulation in Python</a:t>
            </a:r>
          </a:p>
          <a:p>
            <a:pPr marL="514350" indent="-514350">
              <a:buAutoNum type="arabicPeriod"/>
            </a:pPr>
            <a:r>
              <a:rPr lang="en-US" dirty="0"/>
              <a:t>Connect ML models</a:t>
            </a:r>
          </a:p>
          <a:p>
            <a:pPr marL="514350" indent="-514350">
              <a:buAutoNum type="arabicPeriod"/>
            </a:pPr>
            <a:r>
              <a:rPr lang="en-US" dirty="0"/>
              <a:t>Use established control system benchmarking methodologies to compare model convergence</a:t>
            </a:r>
          </a:p>
          <a:p>
            <a:pPr marL="514350" indent="-514350">
              <a:buAutoNum type="arabicPeriod"/>
            </a:pPr>
            <a:r>
              <a:rPr lang="en-US" dirty="0"/>
              <a:t>Build physical model and compare to the simulation?</a:t>
            </a:r>
          </a:p>
          <a:p>
            <a:pPr marL="0" indent="0">
              <a:buNone/>
            </a:pPr>
            <a:endParaRPr lang="en-US" dirty="0"/>
          </a:p>
        </p:txBody>
      </p:sp>
    </p:spTree>
    <p:extLst>
      <p:ext uri="{BB962C8B-B14F-4D97-AF65-F5344CB8AC3E}">
        <p14:creationId xmlns:p14="http://schemas.microsoft.com/office/powerpoint/2010/main" val="4080178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59F67-578D-4602-9569-7FCA0713D9B1}"/>
              </a:ext>
            </a:extLst>
          </p:cNvPr>
          <p:cNvSpPr>
            <a:spLocks noGrp="1"/>
          </p:cNvSpPr>
          <p:nvPr>
            <p:ph type="title"/>
          </p:nvPr>
        </p:nvSpPr>
        <p:spPr/>
        <p:txBody>
          <a:bodyPr/>
          <a:lstStyle/>
          <a:p>
            <a:r>
              <a:rPr lang="en-US" b="1" dirty="0"/>
              <a:t>Presentation to be  turn in each project workday:</a:t>
            </a:r>
          </a:p>
        </p:txBody>
      </p:sp>
      <p:sp>
        <p:nvSpPr>
          <p:cNvPr id="3" name="Content Placeholder 2">
            <a:extLst>
              <a:ext uri="{FF2B5EF4-FFF2-40B4-BE49-F238E27FC236}">
                <a16:creationId xmlns:a16="http://schemas.microsoft.com/office/drawing/2014/main" id="{666AF52D-B651-437B-8ED2-0C5DD3636C04}"/>
              </a:ext>
            </a:extLst>
          </p:cNvPr>
          <p:cNvSpPr>
            <a:spLocks noGrp="1"/>
          </p:cNvSpPr>
          <p:nvPr>
            <p:ph idx="1"/>
          </p:nvPr>
        </p:nvSpPr>
        <p:spPr/>
        <p:txBody>
          <a:bodyPr/>
          <a:lstStyle/>
          <a:p>
            <a:r>
              <a:rPr lang="en-US" dirty="0" err="1"/>
              <a:t>Powerpoint</a:t>
            </a:r>
            <a:r>
              <a:rPr lang="en-US" dirty="0"/>
              <a:t> Presentation to </a:t>
            </a:r>
            <a:r>
              <a:rPr lang="en-US" dirty="0" err="1"/>
              <a:t>Gradescope</a:t>
            </a:r>
            <a:r>
              <a:rPr lang="en-US" dirty="0"/>
              <a:t>.</a:t>
            </a:r>
          </a:p>
        </p:txBody>
      </p:sp>
      <p:graphicFrame>
        <p:nvGraphicFramePr>
          <p:cNvPr id="4" name="Table 3">
            <a:extLst>
              <a:ext uri="{FF2B5EF4-FFF2-40B4-BE49-F238E27FC236}">
                <a16:creationId xmlns:a16="http://schemas.microsoft.com/office/drawing/2014/main" id="{93D059F1-CA6C-F664-D090-7522141BF376}"/>
              </a:ext>
            </a:extLst>
          </p:cNvPr>
          <p:cNvGraphicFramePr>
            <a:graphicFrameLocks noGrp="1"/>
          </p:cNvGraphicFramePr>
          <p:nvPr>
            <p:extLst>
              <p:ext uri="{D42A27DB-BD31-4B8C-83A1-F6EECF244321}">
                <p14:modId xmlns:p14="http://schemas.microsoft.com/office/powerpoint/2010/main" val="3496949741"/>
              </p:ext>
            </p:extLst>
          </p:nvPr>
        </p:nvGraphicFramePr>
        <p:xfrm>
          <a:off x="2134492" y="2494243"/>
          <a:ext cx="7321275" cy="4139646"/>
        </p:xfrm>
        <a:graphic>
          <a:graphicData uri="http://schemas.openxmlformats.org/drawingml/2006/table">
            <a:tbl>
              <a:tblPr/>
              <a:tblGrid>
                <a:gridCol w="772428">
                  <a:extLst>
                    <a:ext uri="{9D8B030D-6E8A-4147-A177-3AD203B41FA5}">
                      <a16:colId xmlns:a16="http://schemas.microsoft.com/office/drawing/2014/main" val="3667888962"/>
                    </a:ext>
                  </a:extLst>
                </a:gridCol>
                <a:gridCol w="738844">
                  <a:extLst>
                    <a:ext uri="{9D8B030D-6E8A-4147-A177-3AD203B41FA5}">
                      <a16:colId xmlns:a16="http://schemas.microsoft.com/office/drawing/2014/main" val="2478123673"/>
                    </a:ext>
                  </a:extLst>
                </a:gridCol>
                <a:gridCol w="2636331">
                  <a:extLst>
                    <a:ext uri="{9D8B030D-6E8A-4147-A177-3AD203B41FA5}">
                      <a16:colId xmlns:a16="http://schemas.microsoft.com/office/drawing/2014/main" val="961590724"/>
                    </a:ext>
                  </a:extLst>
                </a:gridCol>
                <a:gridCol w="3173672">
                  <a:extLst>
                    <a:ext uri="{9D8B030D-6E8A-4147-A177-3AD203B41FA5}">
                      <a16:colId xmlns:a16="http://schemas.microsoft.com/office/drawing/2014/main" val="2532058338"/>
                    </a:ext>
                  </a:extLst>
                </a:gridCol>
              </a:tblGrid>
              <a:tr h="151048">
                <a:tc>
                  <a:txBody>
                    <a:bodyPr/>
                    <a:lstStyle/>
                    <a:p>
                      <a:pPr algn="ctr" fontAlgn="ctr">
                        <a:buNone/>
                      </a:pPr>
                      <a:r>
                        <a:rPr lang="en-US" sz="1400" b="1" i="0" dirty="0">
                          <a:solidFill>
                            <a:srgbClr val="000000"/>
                          </a:solidFill>
                          <a:effectLst/>
                          <a:latin typeface="Calibri" panose="020F0502020204030204" pitchFamily="34" charset="0"/>
                        </a:rPr>
                        <a:t>Week</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b="1" i="0">
                          <a:solidFill>
                            <a:srgbClr val="000000"/>
                          </a:solidFill>
                          <a:effectLst/>
                          <a:latin typeface="Calibri" panose="020F0502020204030204" pitchFamily="34" charset="0"/>
                        </a:rPr>
                        <a:t>Date</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1" i="0">
                          <a:solidFill>
                            <a:srgbClr val="000000"/>
                          </a:solidFill>
                          <a:effectLst/>
                          <a:latin typeface="Calibri" panose="020F0502020204030204" pitchFamily="34" charset="0"/>
                        </a:rPr>
                        <a:t>Topics/Class time</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1" i="0">
                          <a:solidFill>
                            <a:srgbClr val="000000"/>
                          </a:solidFill>
                          <a:effectLst/>
                          <a:latin typeface="Calibri" panose="020F0502020204030204" pitchFamily="34" charset="0"/>
                        </a:rPr>
                        <a:t>Due</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504010"/>
                  </a:ext>
                </a:extLst>
              </a:tr>
              <a:tr h="295230">
                <a:tc>
                  <a:txBody>
                    <a:bodyPr/>
                    <a:lstStyle/>
                    <a:p>
                      <a:pPr algn="ctr" fontAlgn="ctr">
                        <a:buNone/>
                      </a:pPr>
                      <a:r>
                        <a:rPr lang="en-US" sz="1400" b="1" i="0">
                          <a:solidFill>
                            <a:srgbClr val="000000"/>
                          </a:solidFill>
                          <a:effectLst/>
                          <a:latin typeface="Calibri" panose="020F0502020204030204" pitchFamily="34" charset="0"/>
                        </a:rPr>
                        <a:t>1</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8/29</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a:solidFill>
                            <a:srgbClr val="000000"/>
                          </a:solidFill>
                          <a:effectLst/>
                          <a:latin typeface="Calibri" panose="020F0502020204030204" pitchFamily="34" charset="0"/>
                        </a:rPr>
                        <a:t>Course Intro/Problem finding</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0" i="0">
                          <a:solidFill>
                            <a:srgbClr val="000000"/>
                          </a:solidFill>
                          <a:effectLst/>
                          <a:latin typeface="Calibri" panose="020F0502020204030204" pitchFamily="34" charset="0"/>
                        </a:rPr>
                        <a:t>M1: Draft of potential ideas for Project</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36731"/>
                  </a:ext>
                </a:extLst>
              </a:tr>
              <a:tr h="151048">
                <a:tc>
                  <a:txBody>
                    <a:bodyPr/>
                    <a:lstStyle/>
                    <a:p>
                      <a:pPr algn="ctr" fontAlgn="ctr">
                        <a:buNone/>
                      </a:pPr>
                      <a:r>
                        <a:rPr lang="en-US" sz="1400" b="1" i="0">
                          <a:solidFill>
                            <a:srgbClr val="000000"/>
                          </a:solidFill>
                          <a:effectLst/>
                          <a:latin typeface="Calibri" panose="020F0502020204030204" pitchFamily="34" charset="0"/>
                        </a:rPr>
                        <a:t>2</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9/5</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dirty="0">
                          <a:solidFill>
                            <a:srgbClr val="000000"/>
                          </a:solidFill>
                          <a:effectLst/>
                          <a:latin typeface="Calibri" panose="020F0502020204030204" pitchFamily="34" charset="0"/>
                        </a:rPr>
                        <a:t>Peer Mentoring Day 1</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fontAlgn="ctr">
                        <a:buNone/>
                      </a:pPr>
                      <a:r>
                        <a:rPr lang="en-US" sz="1400" b="0" i="0">
                          <a:solidFill>
                            <a:srgbClr val="000000"/>
                          </a:solidFill>
                          <a:effectLst/>
                          <a:latin typeface="Calibri" panose="020F0502020204030204" pitchFamily="34" charset="0"/>
                        </a:rPr>
                        <a:t>Project Proposals – Form 23 due </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8085482"/>
                  </a:ext>
                </a:extLst>
              </a:tr>
              <a:tr h="151048">
                <a:tc>
                  <a:txBody>
                    <a:bodyPr/>
                    <a:lstStyle/>
                    <a:p>
                      <a:pPr algn="ctr" fontAlgn="ctr">
                        <a:buNone/>
                      </a:pPr>
                      <a:r>
                        <a:rPr lang="en-US" sz="1400" b="1" i="0">
                          <a:solidFill>
                            <a:srgbClr val="000000"/>
                          </a:solidFill>
                          <a:effectLst/>
                          <a:latin typeface="Calibri" panose="020F0502020204030204" pitchFamily="34" charset="0"/>
                        </a:rPr>
                        <a:t>3</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9/12</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a:solidFill>
                            <a:srgbClr val="000000"/>
                          </a:solidFill>
                          <a:effectLst/>
                          <a:latin typeface="Calibri" panose="020F0502020204030204" pitchFamily="34" charset="0"/>
                        </a:rPr>
                        <a:t>Project Workday </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0" i="0">
                          <a:solidFill>
                            <a:srgbClr val="000000"/>
                          </a:solidFill>
                          <a:effectLst/>
                          <a:latin typeface="Calibri" panose="020F0502020204030204" pitchFamily="34" charset="0"/>
                        </a:rPr>
                        <a:t>Progress Update 1</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8993868"/>
                  </a:ext>
                </a:extLst>
              </a:tr>
              <a:tr h="151048">
                <a:tc>
                  <a:txBody>
                    <a:bodyPr/>
                    <a:lstStyle/>
                    <a:p>
                      <a:pPr algn="ctr" fontAlgn="ctr">
                        <a:buNone/>
                      </a:pPr>
                      <a:r>
                        <a:rPr lang="en-US" sz="1400" b="1" i="0">
                          <a:solidFill>
                            <a:srgbClr val="000000"/>
                          </a:solidFill>
                          <a:effectLst/>
                          <a:latin typeface="Calibri" panose="020F0502020204030204" pitchFamily="34" charset="0"/>
                        </a:rPr>
                        <a:t>4</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9/19</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dirty="0">
                          <a:solidFill>
                            <a:srgbClr val="000000"/>
                          </a:solidFill>
                          <a:effectLst/>
                          <a:latin typeface="Calibri" panose="020F0502020204030204" pitchFamily="34" charset="0"/>
                        </a:rPr>
                        <a:t>Peer Mentoring Day 2</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fontAlgn="ctr">
                        <a:buNone/>
                      </a:pPr>
                      <a:r>
                        <a:rPr lang="en-US" sz="1400" b="0" i="0">
                          <a:solidFill>
                            <a:srgbClr val="000000"/>
                          </a:solidFill>
                          <a:effectLst/>
                          <a:latin typeface="Calibri" panose="020F0502020204030204" pitchFamily="34" charset="0"/>
                        </a:rPr>
                        <a:t> </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5319144"/>
                  </a:ext>
                </a:extLst>
              </a:tr>
              <a:tr h="151048">
                <a:tc>
                  <a:txBody>
                    <a:bodyPr/>
                    <a:lstStyle/>
                    <a:p>
                      <a:pPr algn="ctr" fontAlgn="ctr">
                        <a:buNone/>
                      </a:pPr>
                      <a:r>
                        <a:rPr lang="en-US" sz="1400" b="1" i="0">
                          <a:solidFill>
                            <a:srgbClr val="000000"/>
                          </a:solidFill>
                          <a:effectLst/>
                          <a:latin typeface="Calibri" panose="020F0502020204030204" pitchFamily="34" charset="0"/>
                        </a:rPr>
                        <a:t>5</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9/26</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a:solidFill>
                            <a:srgbClr val="000000"/>
                          </a:solidFill>
                          <a:effectLst/>
                          <a:latin typeface="Calibri" panose="020F0502020204030204" pitchFamily="34" charset="0"/>
                        </a:rPr>
                        <a:t>Project Workday</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0" i="0">
                          <a:solidFill>
                            <a:srgbClr val="000000"/>
                          </a:solidFill>
                          <a:effectLst/>
                          <a:latin typeface="Calibri" panose="020F0502020204030204" pitchFamily="34" charset="0"/>
                        </a:rPr>
                        <a:t>Progress Update 2</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9035603"/>
                  </a:ext>
                </a:extLst>
              </a:tr>
              <a:tr h="151048">
                <a:tc>
                  <a:txBody>
                    <a:bodyPr/>
                    <a:lstStyle/>
                    <a:p>
                      <a:pPr algn="ctr" fontAlgn="ctr">
                        <a:buNone/>
                      </a:pPr>
                      <a:r>
                        <a:rPr lang="en-US" sz="1400" b="1" i="0">
                          <a:solidFill>
                            <a:srgbClr val="000000"/>
                          </a:solidFill>
                          <a:effectLst/>
                          <a:latin typeface="Calibri" panose="020F0502020204030204" pitchFamily="34" charset="0"/>
                        </a:rPr>
                        <a:t>6</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10/3</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dirty="0">
                          <a:solidFill>
                            <a:srgbClr val="000000"/>
                          </a:solidFill>
                          <a:effectLst/>
                          <a:latin typeface="Calibri" panose="020F0502020204030204" pitchFamily="34" charset="0"/>
                        </a:rPr>
                        <a:t>Peer Mentoring Day 3</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fontAlgn="ctr">
                        <a:buNone/>
                      </a:pPr>
                      <a:r>
                        <a:rPr lang="en-US" sz="1400" b="0" i="0">
                          <a:solidFill>
                            <a:srgbClr val="000000"/>
                          </a:solidFill>
                          <a:effectLst/>
                          <a:latin typeface="Calibri" panose="020F0502020204030204" pitchFamily="34" charset="0"/>
                        </a:rPr>
                        <a:t> </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1147776"/>
                  </a:ext>
                </a:extLst>
              </a:tr>
              <a:tr h="151048">
                <a:tc>
                  <a:txBody>
                    <a:bodyPr/>
                    <a:lstStyle/>
                    <a:p>
                      <a:pPr algn="ctr" fontAlgn="ctr">
                        <a:buNone/>
                      </a:pPr>
                      <a:r>
                        <a:rPr lang="en-US" sz="1400" b="1" i="0">
                          <a:solidFill>
                            <a:srgbClr val="000000"/>
                          </a:solidFill>
                          <a:effectLst/>
                          <a:latin typeface="Calibri" panose="020F0502020204030204" pitchFamily="34" charset="0"/>
                        </a:rPr>
                        <a:t>7</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10/10</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a:solidFill>
                            <a:srgbClr val="000000"/>
                          </a:solidFill>
                          <a:effectLst/>
                          <a:latin typeface="Calibri" panose="020F0502020204030204" pitchFamily="34" charset="0"/>
                        </a:rPr>
                        <a:t>In-class Design Review </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0" i="0">
                          <a:solidFill>
                            <a:srgbClr val="000000"/>
                          </a:solidFill>
                          <a:effectLst/>
                          <a:latin typeface="Calibri" panose="020F0502020204030204" pitchFamily="34" charset="0"/>
                        </a:rPr>
                        <a:t>M2: Midterm Design Review</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9240779"/>
                  </a:ext>
                </a:extLst>
              </a:tr>
              <a:tr h="151048">
                <a:tc>
                  <a:txBody>
                    <a:bodyPr/>
                    <a:lstStyle/>
                    <a:p>
                      <a:pPr algn="ctr" fontAlgn="ctr">
                        <a:buNone/>
                      </a:pPr>
                      <a:r>
                        <a:rPr lang="en-US" sz="1400" b="1" i="0">
                          <a:solidFill>
                            <a:srgbClr val="000000"/>
                          </a:solidFill>
                          <a:effectLst/>
                          <a:latin typeface="Calibri" panose="020F0502020204030204" pitchFamily="34" charset="0"/>
                        </a:rPr>
                        <a:t>8</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10/17</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dirty="0">
                          <a:solidFill>
                            <a:srgbClr val="000000"/>
                          </a:solidFill>
                          <a:effectLst/>
                          <a:latin typeface="Calibri" panose="020F0502020204030204" pitchFamily="34" charset="0"/>
                        </a:rPr>
                        <a:t>Peer Mentoring Day 4</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fontAlgn="ctr">
                        <a:buNone/>
                      </a:pPr>
                      <a:r>
                        <a:rPr lang="en-US" sz="1400" b="0" i="0">
                          <a:solidFill>
                            <a:srgbClr val="000000"/>
                          </a:solidFill>
                          <a:effectLst/>
                          <a:latin typeface="Calibri" panose="020F0502020204030204" pitchFamily="34" charset="0"/>
                        </a:rPr>
                        <a:t>--</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8768930"/>
                  </a:ext>
                </a:extLst>
              </a:tr>
              <a:tr h="270513">
                <a:tc>
                  <a:txBody>
                    <a:bodyPr/>
                    <a:lstStyle/>
                    <a:p>
                      <a:pPr algn="ctr" fontAlgn="ctr">
                        <a:buNone/>
                      </a:pPr>
                      <a:r>
                        <a:rPr lang="en-US" sz="1400" b="1" i="0">
                          <a:solidFill>
                            <a:srgbClr val="000000"/>
                          </a:solidFill>
                          <a:effectLst/>
                          <a:latin typeface="Calibri" panose="020F0502020204030204" pitchFamily="34" charset="0"/>
                        </a:rPr>
                        <a:t>9</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10/24</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a:solidFill>
                            <a:srgbClr val="000000"/>
                          </a:solidFill>
                          <a:effectLst/>
                          <a:latin typeface="Calibri" panose="020F0502020204030204" pitchFamily="34" charset="0"/>
                        </a:rPr>
                        <a:t>Project Workday</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0" i="0">
                          <a:solidFill>
                            <a:srgbClr val="000000"/>
                          </a:solidFill>
                          <a:effectLst/>
                          <a:latin typeface="Calibri" panose="020F0502020204030204" pitchFamily="34" charset="0"/>
                        </a:rPr>
                        <a:t>Progress Update 3 + Draft of Final Report</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1820945"/>
                  </a:ext>
                </a:extLst>
              </a:tr>
              <a:tr h="151048">
                <a:tc>
                  <a:txBody>
                    <a:bodyPr/>
                    <a:lstStyle/>
                    <a:p>
                      <a:pPr algn="ctr" fontAlgn="ctr">
                        <a:buNone/>
                      </a:pPr>
                      <a:r>
                        <a:rPr lang="en-US" sz="1400" b="1" i="0">
                          <a:solidFill>
                            <a:srgbClr val="000000"/>
                          </a:solidFill>
                          <a:effectLst/>
                          <a:latin typeface="Calibri" panose="020F0502020204030204" pitchFamily="34" charset="0"/>
                        </a:rPr>
                        <a:t>10</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10/31</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dirty="0">
                          <a:solidFill>
                            <a:srgbClr val="000000"/>
                          </a:solidFill>
                          <a:effectLst/>
                          <a:latin typeface="Calibri" panose="020F0502020204030204" pitchFamily="34" charset="0"/>
                        </a:rPr>
                        <a:t>Peer Mentoring Day 5</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fontAlgn="ctr">
                        <a:buNone/>
                      </a:pPr>
                      <a:r>
                        <a:rPr lang="en-US" sz="1400" b="0" i="0">
                          <a:solidFill>
                            <a:srgbClr val="000000"/>
                          </a:solidFill>
                          <a:effectLst/>
                          <a:latin typeface="Calibri" panose="020F0502020204030204" pitchFamily="34" charset="0"/>
                        </a:rPr>
                        <a:t> </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2803447"/>
                  </a:ext>
                </a:extLst>
              </a:tr>
              <a:tr h="151048">
                <a:tc>
                  <a:txBody>
                    <a:bodyPr/>
                    <a:lstStyle/>
                    <a:p>
                      <a:pPr algn="ctr" fontAlgn="ctr">
                        <a:buNone/>
                      </a:pPr>
                      <a:r>
                        <a:rPr lang="en-US" sz="1400" b="1" i="0">
                          <a:solidFill>
                            <a:srgbClr val="000000"/>
                          </a:solidFill>
                          <a:effectLst/>
                          <a:latin typeface="Calibri" panose="020F0502020204030204" pitchFamily="34" charset="0"/>
                        </a:rPr>
                        <a:t>11</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11/7</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a:solidFill>
                            <a:srgbClr val="000000"/>
                          </a:solidFill>
                          <a:effectLst/>
                          <a:latin typeface="Calibri" panose="020F0502020204030204" pitchFamily="34" charset="0"/>
                        </a:rPr>
                        <a:t>Project Workday</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0" i="0">
                          <a:solidFill>
                            <a:srgbClr val="000000"/>
                          </a:solidFill>
                          <a:effectLst/>
                          <a:latin typeface="Calibri" panose="020F0502020204030204" pitchFamily="34" charset="0"/>
                        </a:rPr>
                        <a:t>Progress Update 4</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8909321"/>
                  </a:ext>
                </a:extLst>
              </a:tr>
              <a:tr h="151048">
                <a:tc>
                  <a:txBody>
                    <a:bodyPr/>
                    <a:lstStyle/>
                    <a:p>
                      <a:pPr algn="ctr" fontAlgn="ctr">
                        <a:buNone/>
                      </a:pPr>
                      <a:r>
                        <a:rPr lang="en-US" sz="1400" b="1" i="0">
                          <a:solidFill>
                            <a:srgbClr val="000000"/>
                          </a:solidFill>
                          <a:effectLst/>
                          <a:latin typeface="Calibri" panose="020F0502020204030204" pitchFamily="34" charset="0"/>
                        </a:rPr>
                        <a:t>12</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11/14</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a:solidFill>
                            <a:srgbClr val="000000"/>
                          </a:solidFill>
                          <a:effectLst/>
                          <a:latin typeface="Calibri" panose="020F0502020204030204" pitchFamily="34" charset="0"/>
                        </a:rPr>
                        <a:t>Project Workday</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0" i="0">
                          <a:solidFill>
                            <a:srgbClr val="000000"/>
                          </a:solidFill>
                          <a:effectLst/>
                          <a:latin typeface="Calibri" panose="020F0502020204030204" pitchFamily="34" charset="0"/>
                        </a:rPr>
                        <a:t>Project Update 5</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3387168"/>
                  </a:ext>
                </a:extLst>
              </a:tr>
              <a:tr h="270513">
                <a:tc>
                  <a:txBody>
                    <a:bodyPr/>
                    <a:lstStyle/>
                    <a:p>
                      <a:pPr algn="ctr" fontAlgn="ctr">
                        <a:buNone/>
                      </a:pPr>
                      <a:endParaRPr lang="en-US" sz="1400" b="1" i="0" dirty="0">
                        <a:solidFill>
                          <a:srgbClr val="000000"/>
                        </a:solidFill>
                        <a:effectLst/>
                        <a:latin typeface="Calibri" panose="020F0502020204030204" pitchFamily="34" charset="0"/>
                      </a:endParaRP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tc>
                  <a:txBody>
                    <a:bodyPr/>
                    <a:lstStyle/>
                    <a:p>
                      <a:pPr algn="ctr" fontAlgn="ctr">
                        <a:buNone/>
                      </a:pPr>
                      <a:r>
                        <a:rPr lang="en-US" sz="1200" b="0" i="0" dirty="0">
                          <a:solidFill>
                            <a:srgbClr val="000000"/>
                          </a:solidFill>
                          <a:effectLst/>
                          <a:latin typeface="Calibri" panose="020F0502020204030204" pitchFamily="34" charset="0"/>
                        </a:rPr>
                        <a:t>11/18</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tc>
                  <a:txBody>
                    <a:bodyPr/>
                    <a:lstStyle/>
                    <a:p>
                      <a:pPr algn="l" fontAlgn="ctr">
                        <a:buNone/>
                      </a:pPr>
                      <a:r>
                        <a:rPr lang="en-US" sz="1400" b="0" i="0" dirty="0">
                          <a:solidFill>
                            <a:srgbClr val="000000"/>
                          </a:solidFill>
                          <a:effectLst/>
                          <a:latin typeface="Calibri" panose="020F0502020204030204" pitchFamily="34" charset="0"/>
                        </a:rPr>
                        <a:t>Fall Undergraduate Research Expo</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tc>
                  <a:txBody>
                    <a:bodyPr/>
                    <a:lstStyle/>
                    <a:p>
                      <a:pPr fontAlgn="ctr">
                        <a:buNone/>
                      </a:pPr>
                      <a:r>
                        <a:rPr lang="en-US" sz="1400" b="0" i="0" dirty="0">
                          <a:solidFill>
                            <a:srgbClr val="000000"/>
                          </a:solidFill>
                          <a:effectLst/>
                          <a:latin typeface="Calibri" panose="020F0502020204030204" pitchFamily="34" charset="0"/>
                        </a:rPr>
                        <a:t>Possible opportunity to showcase work</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extLst>
                  <a:ext uri="{0D108BD9-81ED-4DB2-BD59-A6C34878D82A}">
                    <a16:rowId xmlns:a16="http://schemas.microsoft.com/office/drawing/2014/main" val="3594384865"/>
                  </a:ext>
                </a:extLst>
              </a:tr>
              <a:tr h="151048">
                <a:tc>
                  <a:txBody>
                    <a:bodyPr/>
                    <a:lstStyle/>
                    <a:p>
                      <a:pPr algn="ctr" fontAlgn="ctr">
                        <a:buNone/>
                      </a:pPr>
                      <a:r>
                        <a:rPr lang="en-US" sz="1400" b="1" i="0">
                          <a:solidFill>
                            <a:srgbClr val="000000"/>
                          </a:solidFill>
                          <a:effectLst/>
                          <a:latin typeface="Calibri" panose="020F0502020204030204" pitchFamily="34" charset="0"/>
                        </a:rPr>
                        <a:t>13</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11/21</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dirty="0">
                          <a:solidFill>
                            <a:srgbClr val="000000"/>
                          </a:solidFill>
                          <a:effectLst/>
                          <a:latin typeface="Calibri" panose="020F0502020204030204" pitchFamily="34" charset="0"/>
                        </a:rPr>
                        <a:t>Peer Mentoring Day 6</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fontAlgn="ctr">
                        <a:buNone/>
                      </a:pPr>
                      <a:r>
                        <a:rPr lang="en-US" sz="1400" b="0" i="0">
                          <a:solidFill>
                            <a:srgbClr val="000000"/>
                          </a:solidFill>
                          <a:effectLst/>
                          <a:latin typeface="Calibri" panose="020F0502020204030204" pitchFamily="34" charset="0"/>
                        </a:rPr>
                        <a:t>Draft of Final Report</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8432451"/>
                  </a:ext>
                </a:extLst>
              </a:tr>
              <a:tr h="151048">
                <a:tc>
                  <a:txBody>
                    <a:bodyPr/>
                    <a:lstStyle/>
                    <a:p>
                      <a:pPr algn="ctr" fontAlgn="ctr">
                        <a:buNone/>
                      </a:pPr>
                      <a:r>
                        <a:rPr lang="en-US" sz="1400" b="1" i="0">
                          <a:solidFill>
                            <a:srgbClr val="000000"/>
                          </a:solidFill>
                          <a:effectLst/>
                          <a:latin typeface="Calibri" panose="020F0502020204030204" pitchFamily="34" charset="0"/>
                        </a:rPr>
                        <a:t>14</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ctr" fontAlgn="ctr">
                        <a:buNone/>
                      </a:pPr>
                      <a:r>
                        <a:rPr lang="en-US" sz="1200" b="0" i="0">
                          <a:solidFill>
                            <a:srgbClr val="000000"/>
                          </a:solidFill>
                          <a:effectLst/>
                          <a:latin typeface="Calibri" panose="020F0502020204030204" pitchFamily="34" charset="0"/>
                        </a:rPr>
                        <a:t>11/28</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ctr">
                        <a:buNone/>
                      </a:pPr>
                      <a:r>
                        <a:rPr lang="en-US" sz="1400" b="0" i="0">
                          <a:solidFill>
                            <a:srgbClr val="000000"/>
                          </a:solidFill>
                          <a:effectLst/>
                          <a:latin typeface="Calibri" panose="020F0502020204030204" pitchFamily="34" charset="0"/>
                        </a:rPr>
                        <a:t>Thanksgiving</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fontAlgn="ctr">
                        <a:buNone/>
                      </a:pPr>
                      <a:r>
                        <a:rPr lang="en-US" sz="1400" b="0" i="0">
                          <a:solidFill>
                            <a:srgbClr val="000000"/>
                          </a:solidFill>
                          <a:effectLst/>
                          <a:latin typeface="Calibri" panose="020F0502020204030204" pitchFamily="34" charset="0"/>
                        </a:rPr>
                        <a:t>No Class</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extLst>
                  <a:ext uri="{0D108BD9-81ED-4DB2-BD59-A6C34878D82A}">
                    <a16:rowId xmlns:a16="http://schemas.microsoft.com/office/drawing/2014/main" val="931480935"/>
                  </a:ext>
                </a:extLst>
              </a:tr>
              <a:tr h="151048">
                <a:tc>
                  <a:txBody>
                    <a:bodyPr/>
                    <a:lstStyle/>
                    <a:p>
                      <a:pPr algn="ctr" fontAlgn="ctr">
                        <a:buNone/>
                      </a:pPr>
                      <a:r>
                        <a:rPr lang="en-US" sz="1400" b="1" i="0">
                          <a:solidFill>
                            <a:srgbClr val="000000"/>
                          </a:solidFill>
                          <a:effectLst/>
                          <a:latin typeface="Calibri" panose="020F0502020204030204" pitchFamily="34" charset="0"/>
                        </a:rPr>
                        <a:t>15</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12/5</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a:solidFill>
                            <a:srgbClr val="000000"/>
                          </a:solidFill>
                          <a:effectLst/>
                          <a:latin typeface="Calibri" panose="020F0502020204030204" pitchFamily="34" charset="0"/>
                        </a:rPr>
                        <a:t>In-class demo/presentation</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0" i="0">
                          <a:solidFill>
                            <a:srgbClr val="000000"/>
                          </a:solidFill>
                          <a:effectLst/>
                          <a:latin typeface="Calibri" panose="020F0502020204030204" pitchFamily="34" charset="0"/>
                        </a:rPr>
                        <a:t>M3: Final Presentation</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2897878"/>
                  </a:ext>
                </a:extLst>
              </a:tr>
              <a:tr h="151048">
                <a:tc>
                  <a:txBody>
                    <a:bodyPr/>
                    <a:lstStyle/>
                    <a:p>
                      <a:pPr algn="ctr" fontAlgn="ctr">
                        <a:buNone/>
                      </a:pPr>
                      <a:r>
                        <a:rPr lang="en-US" sz="1400" b="1" i="0">
                          <a:solidFill>
                            <a:srgbClr val="000000"/>
                          </a:solidFill>
                          <a:effectLst/>
                          <a:latin typeface="Calibri" panose="020F0502020204030204" pitchFamily="34" charset="0"/>
                        </a:rPr>
                        <a:t>16</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12/12</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a:solidFill>
                            <a:srgbClr val="000000"/>
                          </a:solidFill>
                          <a:effectLst/>
                          <a:latin typeface="Calibri" panose="020F0502020204030204" pitchFamily="34" charset="0"/>
                        </a:rPr>
                        <a:t>Adjournment</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0" i="0" dirty="0">
                          <a:solidFill>
                            <a:srgbClr val="000000"/>
                          </a:solidFill>
                          <a:effectLst/>
                          <a:latin typeface="Calibri" panose="020F0502020204030204" pitchFamily="34" charset="0"/>
                        </a:rPr>
                        <a:t>M3: Final Presentations if needed</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7089772"/>
                  </a:ext>
                </a:extLst>
              </a:tr>
            </a:tbl>
          </a:graphicData>
        </a:graphic>
      </p:graphicFrame>
    </p:spTree>
    <p:extLst>
      <p:ext uri="{BB962C8B-B14F-4D97-AF65-F5344CB8AC3E}">
        <p14:creationId xmlns:p14="http://schemas.microsoft.com/office/powerpoint/2010/main" val="3014132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TotalTime>
  <Words>657</Words>
  <Application>Microsoft Office PowerPoint</Application>
  <PresentationFormat>Widescreen</PresentationFormat>
  <Paragraphs>136</Paragraphs>
  <Slides>9</Slides>
  <Notes>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vt:i4>
      </vt:variant>
    </vt:vector>
  </HeadingPairs>
  <TitlesOfParts>
    <vt:vector size="15" baseType="lpstr">
      <vt:lpstr>Aptos</vt:lpstr>
      <vt:lpstr>Arial</vt:lpstr>
      <vt:lpstr>Calibri</vt:lpstr>
      <vt:lpstr>Calibri Light</vt:lpstr>
      <vt:lpstr>Office Theme</vt:lpstr>
      <vt:lpstr>1_Office Theme</vt:lpstr>
      <vt:lpstr>Digital to Physical: Machine Learning for Control System Simulations</vt:lpstr>
      <vt:lpstr>Project Goals</vt:lpstr>
      <vt:lpstr>Progress </vt:lpstr>
      <vt:lpstr>PowerPoint Presentation</vt:lpstr>
      <vt:lpstr>PowerPoint Presentation</vt:lpstr>
      <vt:lpstr>Challenges/Issues</vt:lpstr>
      <vt:lpstr>Next Steps</vt:lpstr>
      <vt:lpstr>Project Goals</vt:lpstr>
      <vt:lpstr>Presentation to be  turn in each project workday: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Update Template</dc:title>
  <dc:creator>Joseph Alan Lyon</dc:creator>
  <cp:lastModifiedBy>Evan Douglas Moore</cp:lastModifiedBy>
  <cp:revision>6</cp:revision>
  <dcterms:created xsi:type="dcterms:W3CDTF">2022-09-15T16:51:27Z</dcterms:created>
  <dcterms:modified xsi:type="dcterms:W3CDTF">2026-10-23T16:42:02Z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2024-09-05T12:07:42Z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3f945a9b-f7c1-4b18-819a-b69da1c92e80</vt:lpwstr>
  </property>
  <property fmtid="{D5CDD505-2E9C-101B-9397-08002B2CF9AE}" pid="8" name="MSIP_Label_4044bd30-2ed7-4c9d-9d12-46200872a97b_ContentBits">
    <vt:lpwstr>0</vt:lpwstr>
  </property>
</Properties>
</file>