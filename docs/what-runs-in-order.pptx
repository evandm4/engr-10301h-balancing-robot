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2933"/>
                </a:solidFill>
                <a:latin typeface="Calibri"/>
              </a:rPr>
              <a:t>What runs,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773"/>
                </a:solidFill>
                <a:latin typeface="Calibri"/>
              </a:rPr>
              <a:t>Balancing-robot tuning pipeline: from config.py to results/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config.py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CONFIG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82880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EvalConfig + SearchSpace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(+ RobustnessConfig)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82880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Evaluator / BatchEvaluator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2880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Simulator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balance_sim / batch_sim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93192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Optimizer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DE, CMA-ES, random, BO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93192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B44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Validation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unseen seeds (and robots)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393192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B44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results/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JSON, CSV, plots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377440"/>
            <a:ext cx="457200" cy="0"/>
          </a:xfrm>
          <a:prstGeom prst="line">
            <a:avLst/>
          </a:prstGeom>
          <a:ln w="2540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89120" y="2377440"/>
            <a:ext cx="457200" cy="0"/>
          </a:xfrm>
          <a:prstGeom prst="line">
            <a:avLst/>
          </a:prstGeom>
          <a:ln w="2540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2176272"/>
            <a:ext cx="1188721" cy="0"/>
          </a:xfrm>
          <a:prstGeom prst="line">
            <a:avLst/>
          </a:prstGeom>
          <a:ln w="2540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583679" y="2578608"/>
            <a:ext cx="1188721" cy="0"/>
          </a:xfrm>
          <a:prstGeom prst="line">
            <a:avLst/>
          </a:prstGeom>
          <a:ln w="2540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79" y="171907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100" b="0">
                <a:solidFill>
                  <a:srgbClr val="5B6773"/>
                </a:solidFill>
                <a:latin typeface="Calibri"/>
              </a:rPr>
              <a:t>one run per</a:t>
            </a:r>
          </a:p>
          <a:p>
            <a:pPr algn="ctr"/>
            <a:r>
              <a:rPr sz="1100" b="0">
                <a:solidFill>
                  <a:srgbClr val="5B6773"/>
                </a:solidFill>
                <a:latin typeface="Calibri"/>
              </a:rPr>
              <a:t>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6700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773"/>
                </a:solidFill>
                <a:latin typeface="Calibri"/>
              </a:rPr>
              <a:t>cost per run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394959" y="2926080"/>
            <a:ext cx="0" cy="1005840"/>
          </a:xfrm>
          <a:prstGeom prst="line">
            <a:avLst/>
          </a:prstGeom>
          <a:ln w="2540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35040" y="2926080"/>
            <a:ext cx="0" cy="1005840"/>
          </a:xfrm>
          <a:prstGeom prst="line">
            <a:avLst/>
          </a:prstGeom>
          <a:ln w="2540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599" y="32461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5B6773"/>
                </a:solidFill>
                <a:latin typeface="Calibri"/>
              </a:rPr>
              <a:t>candidate gains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246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B6773"/>
                </a:solidFill>
                <a:latin typeface="Calibri"/>
              </a:rPr>
              <a:t>mean cost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79" y="4480559"/>
            <a:ext cx="1188721" cy="0"/>
          </a:xfrm>
          <a:prstGeom prst="line">
            <a:avLst/>
          </a:prstGeom>
          <a:ln w="2540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79" y="397763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100" b="0">
                <a:solidFill>
                  <a:srgbClr val="5B6773"/>
                </a:solidFill>
                <a:latin typeface="Calibri"/>
              </a:rPr>
              <a:t>best gains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09760" y="4480559"/>
            <a:ext cx="548640" cy="0"/>
          </a:xfrm>
          <a:prstGeom prst="line">
            <a:avLst/>
          </a:prstGeom>
          <a:ln w="25400">
            <a:solidFill>
              <a:srgbClr val="4A55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5833872"/>
            <a:ext cx="237744" cy="237744"/>
          </a:xfrm>
          <a:prstGeom prst="round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80644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Setup (once per script)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5833872"/>
            <a:ext cx="237744" cy="237744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03904" y="580644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Search loop (repeats until the budget runs out)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84463" y="5833872"/>
            <a:ext cx="237744" cy="237744"/>
          </a:xfrm>
          <a:prstGeom prst="roundRect">
            <a:avLst/>
          </a:prstGeom>
          <a:solidFill>
            <a:srgbClr val="B44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1936" y="580644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Wrap-up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